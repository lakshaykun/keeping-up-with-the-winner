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6858000" cy="9144000"/>
  <p:embeddedFontLst>
    <p:embeddedFont>
      <p:font typeface="ABeeZee Bold" panose="020B0604020202020204" charset="0"/>
      <p:regular r:id="rId35"/>
    </p:embeddedFont>
    <p:embeddedFont>
      <p:font typeface="Alata" panose="020B0604020202020204" charset="0"/>
      <p:regular r:id="rId36"/>
    </p:embeddedFont>
    <p:embeddedFont>
      <p:font typeface="Bebas Neue Bold" panose="020B0604020202020204" charset="0"/>
      <p:regular r:id="rId37"/>
    </p:embeddedFont>
    <p:embeddedFont>
      <p:font typeface="Bernoru" panose="020B0604020202020204" charset="0"/>
      <p:regular r:id="rId38"/>
    </p:embeddedFont>
    <p:embeddedFont>
      <p:font typeface="Biski" panose="020B0604020202020204" charset="-34"/>
      <p:regular r:id="rId39"/>
    </p:embeddedFont>
    <p:embeddedFont>
      <p:font typeface="Fredoka" panose="020B0604020202020204" charset="0"/>
      <p:regular r:id="rId40"/>
    </p:embeddedFont>
    <p:embeddedFont>
      <p:font typeface="IBM Plex Serif" panose="020F0502020204030204" pitchFamily="18" charset="0"/>
      <p:regular r:id="rId41"/>
    </p:embeddedFont>
    <p:embeddedFont>
      <p:font typeface="IBM Plex Serif Bold" panose="020B0604020202020204" charset="0"/>
      <p:regular r:id="rId42"/>
    </p:embeddedFont>
    <p:embeddedFont>
      <p:font typeface="Literata" panose="020B0604020202020204" charset="0"/>
      <p:regular r:id="rId43"/>
    </p:embeddedFont>
    <p:embeddedFont>
      <p:font typeface="Literata Bold" panose="020B0604020202020204" charset="0"/>
      <p:regular r:id="rId44"/>
    </p:embeddedFont>
    <p:embeddedFont>
      <p:font typeface="TT Fors" panose="020B0604020202020204" charset="0"/>
      <p:regular r:id="rId45"/>
    </p:embeddedFont>
    <p:embeddedFont>
      <p:font typeface="TT Fors Bold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0" d="100"/>
          <a:sy n="30" d="100"/>
        </p:scale>
        <p:origin x="109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slide" Target="slide3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akshaykun/Keeping-Up-with-the-Winner" TargetMode="External"/><Relationship Id="rId3" Type="http://schemas.openxmlformats.org/officeDocument/2006/relationships/image" Target="../media/image38.svg"/><Relationship Id="rId7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6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slide" Target="slide9.xml"/><Relationship Id="rId3" Type="http://schemas.openxmlformats.org/officeDocument/2006/relationships/image" Target="../media/image38.sv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2.svg"/><Relationship Id="rId10" Type="http://schemas.openxmlformats.org/officeDocument/2006/relationships/image" Target="../media/image51.svg"/><Relationship Id="rId4" Type="http://schemas.openxmlformats.org/officeDocument/2006/relationships/image" Target="../media/image1.pn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38.svg"/><Relationship Id="rId7" Type="http://schemas.openxmlformats.org/officeDocument/2006/relationships/image" Target="../media/image5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slide" Target="slide14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65183" y="-1364650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16760" y="1028700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9057" y="1590998"/>
            <a:ext cx="7105005" cy="71050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28700" y="8742045"/>
            <a:ext cx="5819805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Shivam Kumar Goyal</a:t>
            </a:r>
          </a:p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Lakshay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937" y="443166"/>
            <a:ext cx="5314891" cy="1228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3195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Shailaja Mallick</a:t>
            </a:r>
          </a:p>
          <a:p>
            <a:pPr algn="l">
              <a:lnSpc>
                <a:spcPts val="3163"/>
              </a:lnSpc>
            </a:pPr>
            <a:r>
              <a:rPr lang="en-US" sz="3195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Vishwaraj Doshi</a:t>
            </a:r>
          </a:p>
          <a:p>
            <a:pPr algn="l">
              <a:lnSpc>
                <a:spcPts val="3163"/>
              </a:lnSpc>
            </a:pPr>
            <a:r>
              <a:rPr lang="en-US" sz="3195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Do Young Eun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43591" y="8957310"/>
            <a:ext cx="3321592" cy="4950883"/>
          </a:xfrm>
          <a:custGeom>
            <a:avLst/>
            <a:gdLst/>
            <a:ahLst/>
            <a:cxnLst/>
            <a:rect l="l" t="t" r="r" b="b"/>
            <a:pathLst>
              <a:path w="3321592" h="4950883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66139" y="3961867"/>
            <a:ext cx="8083851" cy="179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999" spc="-13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Keeping Up with the Winner!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0149" y="5963032"/>
            <a:ext cx="8605034" cy="82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195" spc="159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TARGETED ADVERTISEMENT TO COMMUNITIES IN SOCIAL NETWORKS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271510"/>
            <a:ext cx="4079365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9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Presented by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05613"/>
            <a:ext cx="7732688" cy="2785110"/>
            <a:chOff x="0" y="0"/>
            <a:chExt cx="2036593" cy="733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6593" cy="733527"/>
            </a:xfrm>
            <a:custGeom>
              <a:avLst/>
              <a:gdLst/>
              <a:ahLst/>
              <a:cxnLst/>
              <a:rect l="l" t="t" r="r" b="b"/>
              <a:pathLst>
                <a:path w="2036593" h="73352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683467"/>
                  </a:lnTo>
                  <a:cubicBezTo>
                    <a:pt x="2036593" y="711114"/>
                    <a:pt x="2014180" y="733527"/>
                    <a:pt x="1986533" y="733527"/>
                  </a:cubicBezTo>
                  <a:lnTo>
                    <a:pt x="50060" y="733527"/>
                  </a:lnTo>
                  <a:cubicBezTo>
                    <a:pt x="36783" y="733527"/>
                    <a:pt x="24050" y="728253"/>
                    <a:pt x="14662" y="718865"/>
                  </a:cubicBezTo>
                  <a:cubicBezTo>
                    <a:pt x="5274" y="709477"/>
                    <a:pt x="0" y="696744"/>
                    <a:pt x="0" y="68346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36593" cy="73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3972" y="2865618"/>
            <a:ext cx="3415090" cy="673407"/>
            <a:chOff x="0" y="0"/>
            <a:chExt cx="899448" cy="177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448" cy="177358"/>
            </a:xfrm>
            <a:custGeom>
              <a:avLst/>
              <a:gdLst/>
              <a:ahLst/>
              <a:cxnLst/>
              <a:rect l="l" t="t" r="r" b="b"/>
              <a:pathLst>
                <a:path w="899448" h="17735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656922"/>
            <a:ext cx="9736232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b="1" spc="-13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Essence of the Study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0695" y="2982612"/>
            <a:ext cx="2821644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Abstract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972" y="3716483"/>
            <a:ext cx="7162144" cy="240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When a new product enters a market already dominated by another, it often struggles to survive.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Traditional research shows that on the same network of users, the stronger product dominates and eliminates the weaker one.</a:t>
            </a: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283118"/>
            <a:ext cx="7732688" cy="2975182"/>
            <a:chOff x="0" y="0"/>
            <a:chExt cx="2036593" cy="7835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6593" cy="783587"/>
            </a:xfrm>
            <a:custGeom>
              <a:avLst/>
              <a:gdLst/>
              <a:ahLst/>
              <a:cxnLst/>
              <a:rect l="l" t="t" r="r" b="b"/>
              <a:pathLst>
                <a:path w="2036593" h="78358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733527"/>
                  </a:lnTo>
                  <a:cubicBezTo>
                    <a:pt x="2036593" y="761174"/>
                    <a:pt x="2014180" y="783587"/>
                    <a:pt x="1986533" y="783587"/>
                  </a:cubicBezTo>
                  <a:lnTo>
                    <a:pt x="50060" y="783587"/>
                  </a:lnTo>
                  <a:cubicBezTo>
                    <a:pt x="36783" y="783587"/>
                    <a:pt x="24050" y="778313"/>
                    <a:pt x="14662" y="768925"/>
                  </a:cubicBezTo>
                  <a:cubicBezTo>
                    <a:pt x="5274" y="759537"/>
                    <a:pt x="0" y="746804"/>
                    <a:pt x="0" y="73352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036593" cy="783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3972" y="6043123"/>
            <a:ext cx="3415090" cy="673407"/>
            <a:chOff x="0" y="0"/>
            <a:chExt cx="899448" cy="1773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448" cy="177358"/>
            </a:xfrm>
            <a:custGeom>
              <a:avLst/>
              <a:gdLst/>
              <a:ahLst/>
              <a:cxnLst/>
              <a:rect l="l" t="t" r="r" b="b"/>
              <a:pathLst>
                <a:path w="899448" h="17735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13972" y="6160117"/>
            <a:ext cx="3415090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Approach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972" y="6570962"/>
            <a:ext cx="7162144" cy="309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endParaRPr/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system is modeled using the bi-SIS (Susceptible–Infected–Susceptible) epidemic model.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 perturbation-based method is applied to determine the best set of users to target for maximum influence.</a:t>
            </a: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526612" y="3105613"/>
            <a:ext cx="7732688" cy="2785110"/>
            <a:chOff x="0" y="0"/>
            <a:chExt cx="2036593" cy="73352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36593" cy="733527"/>
            </a:xfrm>
            <a:custGeom>
              <a:avLst/>
              <a:gdLst/>
              <a:ahLst/>
              <a:cxnLst/>
              <a:rect l="l" t="t" r="r" b="b"/>
              <a:pathLst>
                <a:path w="2036593" h="73352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683467"/>
                  </a:lnTo>
                  <a:cubicBezTo>
                    <a:pt x="2036593" y="711114"/>
                    <a:pt x="2014180" y="733527"/>
                    <a:pt x="1986533" y="733527"/>
                  </a:cubicBezTo>
                  <a:lnTo>
                    <a:pt x="50060" y="733527"/>
                  </a:lnTo>
                  <a:cubicBezTo>
                    <a:pt x="36783" y="733527"/>
                    <a:pt x="24050" y="728253"/>
                    <a:pt x="14662" y="718865"/>
                  </a:cubicBezTo>
                  <a:cubicBezTo>
                    <a:pt x="5274" y="709477"/>
                    <a:pt x="0" y="696744"/>
                    <a:pt x="0" y="68346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036593" cy="73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11884" y="2865618"/>
            <a:ext cx="4089127" cy="673407"/>
            <a:chOff x="0" y="0"/>
            <a:chExt cx="1076972" cy="17735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6972" cy="177358"/>
            </a:xfrm>
            <a:custGeom>
              <a:avLst/>
              <a:gdLst/>
              <a:ahLst/>
              <a:cxnLst/>
              <a:rect l="l" t="t" r="r" b="b"/>
              <a:pathLst>
                <a:path w="1076972" h="177358">
                  <a:moveTo>
                    <a:pt x="0" y="0"/>
                  </a:moveTo>
                  <a:lnTo>
                    <a:pt x="1076972" y="0"/>
                  </a:lnTo>
                  <a:lnTo>
                    <a:pt x="1076972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076972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811884" y="2982612"/>
            <a:ext cx="4089127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Objective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11884" y="3716483"/>
            <a:ext cx="7162144" cy="206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This paper explores how a new or weaker product can coexist with a dominant competitor by:</a:t>
            </a: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Identifying optimal target users for advertisement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Operating under a limited marketing budget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526612" y="6379827"/>
            <a:ext cx="7732688" cy="2975182"/>
            <a:chOff x="0" y="0"/>
            <a:chExt cx="2036593" cy="7835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6593" cy="783587"/>
            </a:xfrm>
            <a:custGeom>
              <a:avLst/>
              <a:gdLst/>
              <a:ahLst/>
              <a:cxnLst/>
              <a:rect l="l" t="t" r="r" b="b"/>
              <a:pathLst>
                <a:path w="2036593" h="78358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733527"/>
                  </a:lnTo>
                  <a:cubicBezTo>
                    <a:pt x="2036593" y="761174"/>
                    <a:pt x="2014180" y="783587"/>
                    <a:pt x="1986533" y="783587"/>
                  </a:cubicBezTo>
                  <a:lnTo>
                    <a:pt x="50060" y="783587"/>
                  </a:lnTo>
                  <a:cubicBezTo>
                    <a:pt x="36783" y="783587"/>
                    <a:pt x="24050" y="778313"/>
                    <a:pt x="14662" y="768925"/>
                  </a:cubicBezTo>
                  <a:cubicBezTo>
                    <a:pt x="5274" y="759537"/>
                    <a:pt x="0" y="746804"/>
                    <a:pt x="0" y="73352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036593" cy="783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11884" y="6043123"/>
            <a:ext cx="4089127" cy="673407"/>
            <a:chOff x="0" y="0"/>
            <a:chExt cx="1076972" cy="1773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6972" cy="177358"/>
            </a:xfrm>
            <a:custGeom>
              <a:avLst/>
              <a:gdLst/>
              <a:ahLst/>
              <a:cxnLst/>
              <a:rect l="l" t="t" r="r" b="b"/>
              <a:pathLst>
                <a:path w="1076972" h="177358">
                  <a:moveTo>
                    <a:pt x="0" y="0"/>
                  </a:moveTo>
                  <a:lnTo>
                    <a:pt x="1076972" y="0"/>
                  </a:lnTo>
                  <a:lnTo>
                    <a:pt x="1076972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076972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811884" y="6160117"/>
            <a:ext cx="4089127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Results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11884" y="6570962"/>
            <a:ext cx="7162144" cy="343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endParaRPr/>
          </a:p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Simulations on real-world social network datasets show that: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new product can achieve a positive market share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Even under the same budget, it can survive and coexist with the stronger product.</a:t>
            </a: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l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35" name="Freeform 35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-2700000">
            <a:off x="-3464289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56922"/>
            <a:ext cx="9736232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b="1" spc="-13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Table of contents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443267" y="3095874"/>
            <a:ext cx="8323014" cy="502862"/>
            <a:chOff x="0" y="0"/>
            <a:chExt cx="2192070" cy="1324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43267" y="3130523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Introduction &amp; Motivation</a:t>
            </a:r>
          </a:p>
        </p:txBody>
      </p:sp>
      <p:sp>
        <p:nvSpPr>
          <p:cNvPr id="7" name="Freeform 7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700000">
            <a:off x="-3464289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443267" y="3817593"/>
            <a:ext cx="8323014" cy="502862"/>
            <a:chOff x="0" y="0"/>
            <a:chExt cx="2192070" cy="1324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43267" y="4539312"/>
            <a:ext cx="8323014" cy="502862"/>
            <a:chOff x="0" y="0"/>
            <a:chExt cx="2192070" cy="1324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43267" y="5261031"/>
            <a:ext cx="8323014" cy="502862"/>
            <a:chOff x="0" y="0"/>
            <a:chExt cx="2192070" cy="1324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43267" y="5982751"/>
            <a:ext cx="8323014" cy="502862"/>
            <a:chOff x="0" y="0"/>
            <a:chExt cx="2192070" cy="1324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43267" y="6704470"/>
            <a:ext cx="8323014" cy="502862"/>
            <a:chOff x="0" y="0"/>
            <a:chExt cx="2192070" cy="1324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43267" y="7426189"/>
            <a:ext cx="8323014" cy="502862"/>
            <a:chOff x="0" y="0"/>
            <a:chExt cx="2192070" cy="1324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443267" y="8147908"/>
            <a:ext cx="8323014" cy="502862"/>
            <a:chOff x="0" y="0"/>
            <a:chExt cx="2192070" cy="1324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43267" y="8869628"/>
            <a:ext cx="8323014" cy="502862"/>
            <a:chOff x="0" y="0"/>
            <a:chExt cx="2192070" cy="1324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2070" cy="132441"/>
            </a:xfrm>
            <a:custGeom>
              <a:avLst/>
              <a:gdLst/>
              <a:ahLst/>
              <a:cxnLst/>
              <a:rect l="l" t="t" r="r" b="b"/>
              <a:pathLst>
                <a:path w="2192070" h="132441">
                  <a:moveTo>
                    <a:pt x="10232" y="0"/>
                  </a:moveTo>
                  <a:lnTo>
                    <a:pt x="2181838" y="0"/>
                  </a:lnTo>
                  <a:cubicBezTo>
                    <a:pt x="2184551" y="0"/>
                    <a:pt x="2187154" y="1078"/>
                    <a:pt x="2189073" y="2997"/>
                  </a:cubicBezTo>
                  <a:cubicBezTo>
                    <a:pt x="2190992" y="4916"/>
                    <a:pt x="2192070" y="7518"/>
                    <a:pt x="2192070" y="10232"/>
                  </a:cubicBezTo>
                  <a:lnTo>
                    <a:pt x="2192070" y="122209"/>
                  </a:lnTo>
                  <a:cubicBezTo>
                    <a:pt x="2192070" y="124923"/>
                    <a:pt x="2190992" y="127525"/>
                    <a:pt x="2189073" y="129444"/>
                  </a:cubicBezTo>
                  <a:cubicBezTo>
                    <a:pt x="2187154" y="131363"/>
                    <a:pt x="2184551" y="132441"/>
                    <a:pt x="2181838" y="132441"/>
                  </a:cubicBezTo>
                  <a:lnTo>
                    <a:pt x="10232" y="132441"/>
                  </a:lnTo>
                  <a:cubicBezTo>
                    <a:pt x="7518" y="132441"/>
                    <a:pt x="4916" y="131363"/>
                    <a:pt x="2997" y="129444"/>
                  </a:cubicBezTo>
                  <a:cubicBezTo>
                    <a:pt x="1078" y="127525"/>
                    <a:pt x="0" y="124923"/>
                    <a:pt x="0" y="122209"/>
                  </a:cubicBezTo>
                  <a:lnTo>
                    <a:pt x="0" y="10232"/>
                  </a:lnTo>
                  <a:cubicBezTo>
                    <a:pt x="0" y="7518"/>
                    <a:pt x="1078" y="4916"/>
                    <a:pt x="2997" y="2997"/>
                  </a:cubicBezTo>
                  <a:cubicBezTo>
                    <a:pt x="4916" y="1078"/>
                    <a:pt x="7518" y="0"/>
                    <a:pt x="10232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192070" cy="13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443267" y="3852242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Related Work &amp; Modeling Approach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43267" y="4573961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System Model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3267" y="5289824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Dynamic Model (bi-SIS Equations)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43267" y="6011543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Problem Setup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43267" y="6729594"/>
            <a:ext cx="7655537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Analysis of Product 2’s Market Share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43267" y="7457910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Sensitivity Analysis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43267" y="8176701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Experimental Setup &amp; Results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443267" y="8898420"/>
            <a:ext cx="6713215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Conclusion &amp; Broader Impact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047688" y="3061584"/>
            <a:ext cx="2290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1.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47688" y="3773473"/>
            <a:ext cx="30085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2.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11969" y="4521503"/>
            <a:ext cx="30048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3.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14797" y="5243222"/>
            <a:ext cx="29482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4.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04007" y="5964941"/>
            <a:ext cx="2727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5.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020489" y="6712971"/>
            <a:ext cx="2834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6.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47688" y="7406475"/>
            <a:ext cx="28381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7.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016583" y="8130099"/>
            <a:ext cx="29125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8.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047688" y="8851818"/>
            <a:ext cx="2834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7719" y="-3719573"/>
            <a:ext cx="11892632" cy="17726146"/>
          </a:xfrm>
          <a:custGeom>
            <a:avLst/>
            <a:gdLst/>
            <a:ahLst/>
            <a:cxnLst/>
            <a:rect l="l" t="t" r="r" b="b"/>
            <a:pathLst>
              <a:path w="11892632" h="17726146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955626" y="2313767"/>
            <a:ext cx="6939157" cy="693915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12547" y="2870688"/>
            <a:ext cx="5825315" cy="58253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28700" y="2135985"/>
            <a:ext cx="7038349" cy="171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b="1" spc="-259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4787" y="4006850"/>
            <a:ext cx="9761224" cy="525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In today’s fast-paced and highly competitive markets, one of the key challenges for any company launching a new product is how to position and market it effectively.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 new product can differentiate itself through unique design, brand image, or niche positioning, and reach consumers using targeted advertisements rather than expensive mass campaigns.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Research shows that focusing on small, well-connected communities of users — who further influence their social networks — can be far more effective for sustained growth than targeting the entire population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3972" y="2865618"/>
            <a:ext cx="7162144" cy="673407"/>
            <a:chOff x="0" y="0"/>
            <a:chExt cx="1886326" cy="177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6326" cy="177358"/>
            </a:xfrm>
            <a:custGeom>
              <a:avLst/>
              <a:gdLst/>
              <a:ahLst/>
              <a:cxnLst/>
              <a:rect l="l" t="t" r="r" b="b"/>
              <a:pathLst>
                <a:path w="1886326" h="177358">
                  <a:moveTo>
                    <a:pt x="0" y="0"/>
                  </a:moveTo>
                  <a:lnTo>
                    <a:pt x="1886326" y="0"/>
                  </a:lnTo>
                  <a:lnTo>
                    <a:pt x="1886326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886326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539025"/>
            <a:ext cx="7732688" cy="2351698"/>
            <a:chOff x="0" y="0"/>
            <a:chExt cx="2036593" cy="6193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6593" cy="619377"/>
            </a:xfrm>
            <a:custGeom>
              <a:avLst/>
              <a:gdLst/>
              <a:ahLst/>
              <a:cxnLst/>
              <a:rect l="l" t="t" r="r" b="b"/>
              <a:pathLst>
                <a:path w="2036593" h="619377">
                  <a:moveTo>
                    <a:pt x="0" y="0"/>
                  </a:moveTo>
                  <a:lnTo>
                    <a:pt x="2036593" y="0"/>
                  </a:lnTo>
                  <a:lnTo>
                    <a:pt x="2036593" y="619377"/>
                  </a:lnTo>
                  <a:lnTo>
                    <a:pt x="0" y="6193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36593" cy="619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6612" y="3105613"/>
            <a:ext cx="7732688" cy="2785110"/>
            <a:chOff x="0" y="0"/>
            <a:chExt cx="2036593" cy="7335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6593" cy="733527"/>
            </a:xfrm>
            <a:custGeom>
              <a:avLst/>
              <a:gdLst/>
              <a:ahLst/>
              <a:cxnLst/>
              <a:rect l="l" t="t" r="r" b="b"/>
              <a:pathLst>
                <a:path w="2036593" h="733527">
                  <a:moveTo>
                    <a:pt x="0" y="0"/>
                  </a:moveTo>
                  <a:lnTo>
                    <a:pt x="2036593" y="0"/>
                  </a:lnTo>
                  <a:lnTo>
                    <a:pt x="2036593" y="733527"/>
                  </a:lnTo>
                  <a:lnTo>
                    <a:pt x="0" y="733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036593" cy="73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11884" y="2865618"/>
            <a:ext cx="7162144" cy="673407"/>
            <a:chOff x="0" y="0"/>
            <a:chExt cx="1886326" cy="1773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6326" cy="177358"/>
            </a:xfrm>
            <a:custGeom>
              <a:avLst/>
              <a:gdLst/>
              <a:ahLst/>
              <a:cxnLst/>
              <a:rect l="l" t="t" r="r" b="b"/>
              <a:pathLst>
                <a:path w="1886326" h="177358">
                  <a:moveTo>
                    <a:pt x="0" y="0"/>
                  </a:moveTo>
                  <a:lnTo>
                    <a:pt x="1886326" y="0"/>
                  </a:lnTo>
                  <a:lnTo>
                    <a:pt x="1886326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886326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8100000">
            <a:off x="-2629858" y="-4156000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8100000">
            <a:off x="16132630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6000">
            <a:off x="1791233" y="6057572"/>
            <a:ext cx="5282213" cy="3767086"/>
          </a:xfrm>
          <a:custGeom>
            <a:avLst/>
            <a:gdLst/>
            <a:ahLst/>
            <a:cxnLst/>
            <a:rect l="l" t="t" r="r" b="b"/>
            <a:pathLst>
              <a:path w="5282213" h="3767086">
                <a:moveTo>
                  <a:pt x="0" y="9208"/>
                </a:moveTo>
                <a:lnTo>
                  <a:pt x="5275654" y="0"/>
                </a:lnTo>
                <a:lnTo>
                  <a:pt x="5282212" y="3757878"/>
                </a:lnTo>
                <a:lnTo>
                  <a:pt x="6558" y="3767086"/>
                </a:lnTo>
                <a:lnTo>
                  <a:pt x="0" y="9208"/>
                </a:lnTo>
                <a:close/>
              </a:path>
            </a:pathLst>
          </a:custGeom>
          <a:blipFill>
            <a:blip r:embed="rId4"/>
            <a:stretch>
              <a:fillRect l="-881" t="-9045" r="-3" b="-3779"/>
            </a:stretch>
          </a:blipFill>
        </p:spPr>
      </p:sp>
      <p:sp>
        <p:nvSpPr>
          <p:cNvPr id="17" name="Freeform 17"/>
          <p:cNvSpPr/>
          <p:nvPr/>
        </p:nvSpPr>
        <p:spPr>
          <a:xfrm rot="24000">
            <a:off x="10857625" y="6044610"/>
            <a:ext cx="5070662" cy="3793009"/>
          </a:xfrm>
          <a:custGeom>
            <a:avLst/>
            <a:gdLst/>
            <a:ahLst/>
            <a:cxnLst/>
            <a:rect l="l" t="t" r="r" b="b"/>
            <a:pathLst>
              <a:path w="5070662" h="3793009">
                <a:moveTo>
                  <a:pt x="0" y="35218"/>
                </a:moveTo>
                <a:lnTo>
                  <a:pt x="5044427" y="0"/>
                </a:lnTo>
                <a:lnTo>
                  <a:pt x="5070662" y="3757792"/>
                </a:lnTo>
                <a:lnTo>
                  <a:pt x="26235" y="3793009"/>
                </a:lnTo>
                <a:lnTo>
                  <a:pt x="0" y="35218"/>
                </a:lnTo>
                <a:close/>
              </a:path>
            </a:pathLst>
          </a:custGeom>
          <a:blipFill>
            <a:blip r:embed="rId5"/>
            <a:stretch>
              <a:fillRect l="-1362" t="-82" r="-363" b="-1222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13972" y="3726008"/>
            <a:ext cx="7162144" cy="163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Despite PlayStation’s dominance, Microsoft’s Xbox sustained its presence by cultivating a strong gamer community and personalized engagement strategies.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3972" y="2987057"/>
            <a:ext cx="7162144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Xbox vs. PlayStation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11884" y="3689667"/>
            <a:ext cx="7162144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In a smartphone market largely led by Apple, Samsung’s Galaxy S4 gained traction through community-based marketing and social media advocacy, establishing a solid foothold over time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11884" y="2987057"/>
            <a:ext cx="7162144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 Galaxy S4 vs. iPhone 4S: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-1722036" y="1626987"/>
            <a:ext cx="9736232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31"/>
              </a:lnSpc>
            </a:pPr>
            <a:r>
              <a:rPr lang="en-US" sz="6799" b="1" spc="-13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real life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17" y="577041"/>
            <a:ext cx="6500762" cy="222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4"/>
              </a:lnSpc>
            </a:pPr>
            <a:r>
              <a:rPr lang="en-US" sz="8499" b="1" spc="-169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Existing Modeling Frameworks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96894" y="3275648"/>
            <a:ext cx="5539498" cy="5608448"/>
            <a:chOff x="0" y="0"/>
            <a:chExt cx="1716444" cy="17378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6444" cy="1737808"/>
            </a:xfrm>
            <a:custGeom>
              <a:avLst/>
              <a:gdLst/>
              <a:ahLst/>
              <a:cxnLst/>
              <a:rect l="l" t="t" r="r" b="b"/>
              <a:pathLst>
                <a:path w="1716444" h="1737808">
                  <a:moveTo>
                    <a:pt x="858222" y="0"/>
                  </a:moveTo>
                  <a:cubicBezTo>
                    <a:pt x="384239" y="0"/>
                    <a:pt x="0" y="389022"/>
                    <a:pt x="0" y="868904"/>
                  </a:cubicBezTo>
                  <a:cubicBezTo>
                    <a:pt x="0" y="1348787"/>
                    <a:pt x="384239" y="1737808"/>
                    <a:pt x="858222" y="1737808"/>
                  </a:cubicBezTo>
                  <a:cubicBezTo>
                    <a:pt x="1332205" y="1737808"/>
                    <a:pt x="1716444" y="1348787"/>
                    <a:pt x="1716444" y="868904"/>
                  </a:cubicBezTo>
                  <a:cubicBezTo>
                    <a:pt x="1716444" y="389022"/>
                    <a:pt x="1332205" y="0"/>
                    <a:pt x="858222" y="0"/>
                  </a:cubicBezTo>
                  <a:close/>
                </a:path>
              </a:pathLst>
            </a:custGeom>
            <a:solidFill>
              <a:srgbClr val="94A6B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0917" y="153395"/>
              <a:ext cx="1394610" cy="1421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0393" y="0"/>
            <a:ext cx="3271326" cy="5143500"/>
            <a:chOff x="0" y="0"/>
            <a:chExt cx="861584" cy="13546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1584" cy="1354667"/>
            </a:xfrm>
            <a:custGeom>
              <a:avLst/>
              <a:gdLst/>
              <a:ahLst/>
              <a:cxnLst/>
              <a:rect l="l" t="t" r="r" b="b"/>
              <a:pathLst>
                <a:path w="861584" h="1354667">
                  <a:moveTo>
                    <a:pt x="0" y="0"/>
                  </a:moveTo>
                  <a:lnTo>
                    <a:pt x="861584" y="0"/>
                  </a:lnTo>
                  <a:lnTo>
                    <a:pt x="861584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61584" cy="135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86787" y="0"/>
            <a:ext cx="3190755" cy="5143500"/>
            <a:chOff x="0" y="0"/>
            <a:chExt cx="840364" cy="13546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0364" cy="1354667"/>
            </a:xfrm>
            <a:custGeom>
              <a:avLst/>
              <a:gdLst/>
              <a:ahLst/>
              <a:cxnLst/>
              <a:rect l="l" t="t" r="r" b="b"/>
              <a:pathLst>
                <a:path w="840364" h="1354667">
                  <a:moveTo>
                    <a:pt x="0" y="0"/>
                  </a:moveTo>
                  <a:lnTo>
                    <a:pt x="840364" y="0"/>
                  </a:lnTo>
                  <a:lnTo>
                    <a:pt x="840364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40364" cy="135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7442" y="3420095"/>
            <a:ext cx="3264276" cy="32642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93154" y="4938706"/>
            <a:ext cx="1505803" cy="150580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06" r="-24906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056560" y="5143500"/>
            <a:ext cx="3289007" cy="5143500"/>
            <a:chOff x="0" y="0"/>
            <a:chExt cx="866241" cy="13546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6241" cy="1354667"/>
            </a:xfrm>
            <a:custGeom>
              <a:avLst/>
              <a:gdLst/>
              <a:ahLst/>
              <a:cxnLst/>
              <a:rect l="l" t="t" r="r" b="b"/>
              <a:pathLst>
                <a:path w="866241" h="1354667">
                  <a:moveTo>
                    <a:pt x="0" y="0"/>
                  </a:moveTo>
                  <a:lnTo>
                    <a:pt x="866241" y="0"/>
                  </a:lnTo>
                  <a:lnTo>
                    <a:pt x="866241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866241" cy="1354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36558" y="3637450"/>
            <a:ext cx="3309009" cy="3343141"/>
            <a:chOff x="0" y="0"/>
            <a:chExt cx="804502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04502" cy="812800"/>
            </a:xfrm>
            <a:custGeom>
              <a:avLst/>
              <a:gdLst/>
              <a:ahLst/>
              <a:cxnLst/>
              <a:rect l="l" t="t" r="r" b="b"/>
              <a:pathLst>
                <a:path w="804502" h="812800">
                  <a:moveTo>
                    <a:pt x="402251" y="0"/>
                  </a:moveTo>
                  <a:cubicBezTo>
                    <a:pt x="180094" y="0"/>
                    <a:pt x="0" y="181951"/>
                    <a:pt x="0" y="406400"/>
                  </a:cubicBezTo>
                  <a:cubicBezTo>
                    <a:pt x="0" y="630849"/>
                    <a:pt x="180094" y="812800"/>
                    <a:pt x="402251" y="812800"/>
                  </a:cubicBezTo>
                  <a:cubicBezTo>
                    <a:pt x="624408" y="812800"/>
                    <a:pt x="804502" y="630849"/>
                    <a:pt x="804502" y="406400"/>
                  </a:cubicBezTo>
                  <a:cubicBezTo>
                    <a:pt x="804502" y="181951"/>
                    <a:pt x="624408" y="0"/>
                    <a:pt x="402251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5422" y="66675"/>
              <a:ext cx="653658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00661" y="3762696"/>
            <a:ext cx="1380804" cy="138080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4686787" y="3485174"/>
            <a:ext cx="3190755" cy="319075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586368" y="4938706"/>
            <a:ext cx="1391593" cy="139159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7317442" y="218547"/>
            <a:ext cx="3264276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Opinion </a:t>
            </a:r>
          </a:p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Dynamics Models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0393" y="1328422"/>
            <a:ext cx="3271326" cy="1446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0B1320"/>
                </a:solidFill>
                <a:latin typeface="Literata"/>
                <a:ea typeface="Literata"/>
                <a:cs typeface="Literata"/>
                <a:sym typeface="Literata"/>
              </a:rPr>
              <a:t>Capture opinion formation &amp; convergence through iterative neighbor averaging.</a:t>
            </a:r>
          </a:p>
          <a:p>
            <a:pPr algn="ctr">
              <a:lnSpc>
                <a:spcPts val="1569"/>
              </a:lnSpc>
            </a:pPr>
            <a:endParaRPr lang="en-US" sz="2000">
              <a:solidFill>
                <a:srgbClr val="0B1320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076561" y="5529202"/>
            <a:ext cx="3289007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Linear Threshold / Information Cascade Models</a:t>
            </a:r>
          </a:p>
          <a:p>
            <a:pPr algn="ctr">
              <a:lnSpc>
                <a:spcPts val="3375"/>
              </a:lnSpc>
            </a:pPr>
            <a:endParaRPr lang="en-US" sz="2700" b="1">
              <a:solidFill>
                <a:srgbClr val="0B1320"/>
              </a:solidFill>
              <a:latin typeface="Literata Bold"/>
              <a:ea typeface="Literata Bold"/>
              <a:cs typeface="Literata Bold"/>
              <a:sym typeface="Literata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890246" y="283930"/>
            <a:ext cx="2987296" cy="784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96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Epidemic Models (SIS, SIR, etc.)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56560" y="7070976"/>
            <a:ext cx="3309009" cy="156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0B1320"/>
                </a:solidFill>
                <a:latin typeface="Literata"/>
                <a:ea typeface="Literata"/>
                <a:cs typeface="Literata"/>
                <a:sym typeface="Literata"/>
              </a:rPr>
              <a:t>Individuals activate (adopt) once neighbor influence crosses a threshold.</a:t>
            </a:r>
          </a:p>
          <a:p>
            <a:pPr algn="ctr">
              <a:lnSpc>
                <a:spcPts val="2500"/>
              </a:lnSpc>
            </a:pPr>
            <a:endParaRPr lang="en-US" sz="2000">
              <a:solidFill>
                <a:srgbClr val="0B1320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714565" y="1253404"/>
            <a:ext cx="316297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0B1320"/>
                </a:solidFill>
                <a:latin typeface="Biski"/>
                <a:ea typeface="Biski"/>
                <a:cs typeface="Biski"/>
                <a:sym typeface="Biski"/>
              </a:rPr>
              <a:t>Treat adoption as infection spread; nodes switch between susceptible/infected.</a:t>
            </a:r>
          </a:p>
        </p:txBody>
      </p:sp>
      <p:sp>
        <p:nvSpPr>
          <p:cNvPr id="36" name="Freeform 36"/>
          <p:cNvSpPr/>
          <p:nvPr/>
        </p:nvSpPr>
        <p:spPr>
          <a:xfrm rot="-2700000">
            <a:off x="-3464289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7455258" y="2775411"/>
            <a:ext cx="2961964" cy="1797653"/>
            <a:chOff x="0" y="0"/>
            <a:chExt cx="780161" cy="4734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80161" cy="473456"/>
            </a:xfrm>
            <a:custGeom>
              <a:avLst/>
              <a:gdLst/>
              <a:ahLst/>
              <a:cxnLst/>
              <a:rect l="l" t="t" r="r" b="b"/>
              <a:pathLst>
                <a:path w="780161" h="473456">
                  <a:moveTo>
                    <a:pt x="780161" y="52276"/>
                  </a:moveTo>
                  <a:lnTo>
                    <a:pt x="780161" y="421180"/>
                  </a:lnTo>
                  <a:cubicBezTo>
                    <a:pt x="780161" y="450051"/>
                    <a:pt x="756756" y="473456"/>
                    <a:pt x="727885" y="473456"/>
                  </a:cubicBezTo>
                  <a:lnTo>
                    <a:pt x="52276" y="473456"/>
                  </a:lnTo>
                  <a:cubicBezTo>
                    <a:pt x="23405" y="473456"/>
                    <a:pt x="0" y="450051"/>
                    <a:pt x="0" y="421180"/>
                  </a:cubicBezTo>
                  <a:lnTo>
                    <a:pt x="0" y="52276"/>
                  </a:lnTo>
                  <a:cubicBezTo>
                    <a:pt x="0" y="23405"/>
                    <a:pt x="23405" y="0"/>
                    <a:pt x="52276" y="0"/>
                  </a:cubicBezTo>
                  <a:lnTo>
                    <a:pt x="727885" y="0"/>
                  </a:lnTo>
                  <a:cubicBezTo>
                    <a:pt x="741750" y="0"/>
                    <a:pt x="755046" y="5508"/>
                    <a:pt x="764850" y="15311"/>
                  </a:cubicBezTo>
                  <a:cubicBezTo>
                    <a:pt x="774653" y="25115"/>
                    <a:pt x="780161" y="38411"/>
                    <a:pt x="780161" y="52276"/>
                  </a:cubicBezTo>
                  <a:close/>
                </a:path>
              </a:pathLst>
            </a:custGeom>
            <a:solidFill>
              <a:srgbClr val="8799A7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780161" cy="47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455258" y="2910375"/>
            <a:ext cx="2961964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Cannot represent adoption/dropping dynamics or true competition.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210081" y="8469159"/>
            <a:ext cx="2961964" cy="1578283"/>
            <a:chOff x="0" y="0"/>
            <a:chExt cx="780106" cy="4156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0106" cy="415679"/>
            </a:xfrm>
            <a:custGeom>
              <a:avLst/>
              <a:gdLst/>
              <a:ahLst/>
              <a:cxnLst/>
              <a:rect l="l" t="t" r="r" b="b"/>
              <a:pathLst>
                <a:path w="780106" h="415679">
                  <a:moveTo>
                    <a:pt x="52276" y="0"/>
                  </a:moveTo>
                  <a:lnTo>
                    <a:pt x="727830" y="0"/>
                  </a:lnTo>
                  <a:cubicBezTo>
                    <a:pt x="756701" y="0"/>
                    <a:pt x="780106" y="23405"/>
                    <a:pt x="780106" y="52276"/>
                  </a:cubicBezTo>
                  <a:lnTo>
                    <a:pt x="780106" y="363404"/>
                  </a:lnTo>
                  <a:cubicBezTo>
                    <a:pt x="780106" y="377268"/>
                    <a:pt x="774598" y="390565"/>
                    <a:pt x="764794" y="400368"/>
                  </a:cubicBezTo>
                  <a:cubicBezTo>
                    <a:pt x="754991" y="410172"/>
                    <a:pt x="741694" y="415679"/>
                    <a:pt x="727830" y="415679"/>
                  </a:cubicBezTo>
                  <a:lnTo>
                    <a:pt x="52276" y="415679"/>
                  </a:lnTo>
                  <a:cubicBezTo>
                    <a:pt x="23405" y="415679"/>
                    <a:pt x="0" y="392275"/>
                    <a:pt x="0" y="363404"/>
                  </a:cubicBezTo>
                  <a:lnTo>
                    <a:pt x="0" y="52276"/>
                  </a:lnTo>
                  <a:cubicBezTo>
                    <a:pt x="0" y="23405"/>
                    <a:pt x="23405" y="0"/>
                    <a:pt x="52276" y="0"/>
                  </a:cubicBezTo>
                  <a:close/>
                </a:path>
              </a:pathLst>
            </a:custGeom>
            <a:solidFill>
              <a:srgbClr val="8799A7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780106" cy="415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30082" y="8531225"/>
            <a:ext cx="2981965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Activation is one-way; individuals don’t switch states back and forth.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ABeeZee Bold"/>
              <a:ea typeface="ABeeZee Bold"/>
              <a:cs typeface="ABeeZee Bold"/>
              <a:sym typeface="ABeeZee Bol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14890246" y="2775411"/>
            <a:ext cx="2815807" cy="1797666"/>
            <a:chOff x="0" y="0"/>
            <a:chExt cx="741612" cy="47345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41612" cy="473459"/>
            </a:xfrm>
            <a:custGeom>
              <a:avLst/>
              <a:gdLst/>
              <a:ahLst/>
              <a:cxnLst/>
              <a:rect l="l" t="t" r="r" b="b"/>
              <a:pathLst>
                <a:path w="741612" h="473459">
                  <a:moveTo>
                    <a:pt x="54989" y="0"/>
                  </a:moveTo>
                  <a:lnTo>
                    <a:pt x="686623" y="0"/>
                  </a:lnTo>
                  <a:cubicBezTo>
                    <a:pt x="716992" y="0"/>
                    <a:pt x="741612" y="24619"/>
                    <a:pt x="741612" y="54989"/>
                  </a:cubicBezTo>
                  <a:lnTo>
                    <a:pt x="741612" y="418470"/>
                  </a:lnTo>
                  <a:cubicBezTo>
                    <a:pt x="741612" y="448840"/>
                    <a:pt x="716992" y="473459"/>
                    <a:pt x="686623" y="473459"/>
                  </a:cubicBezTo>
                  <a:lnTo>
                    <a:pt x="54989" y="473459"/>
                  </a:lnTo>
                  <a:cubicBezTo>
                    <a:pt x="24619" y="473459"/>
                    <a:pt x="0" y="448840"/>
                    <a:pt x="0" y="418470"/>
                  </a:cubicBezTo>
                  <a:lnTo>
                    <a:pt x="0" y="54989"/>
                  </a:lnTo>
                  <a:cubicBezTo>
                    <a:pt x="0" y="24619"/>
                    <a:pt x="24619" y="0"/>
                    <a:pt x="54989" y="0"/>
                  </a:cubicBezTo>
                  <a:close/>
                </a:path>
              </a:pathLst>
            </a:custGeom>
            <a:solidFill>
              <a:srgbClr val="8799A7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741612" cy="473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4890246" y="2910375"/>
            <a:ext cx="2815807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Handles only one product; it must be extended to model competition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1208" y="5390209"/>
            <a:ext cx="4834481" cy="246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1"/>
              </a:lnSpc>
            </a:pPr>
            <a:endParaRPr/>
          </a:p>
          <a:p>
            <a:pPr marL="378588" lvl="1" indent="-189294" algn="l">
              <a:lnSpc>
                <a:spcPts val="2191"/>
              </a:lnSpc>
              <a:buFont typeface="Arial"/>
              <a:buChar char="•"/>
            </a:pPr>
            <a:r>
              <a:rPr lang="en-US" sz="1753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Focus mainly on which product wins, not how much market share each gets.</a:t>
            </a:r>
          </a:p>
          <a:p>
            <a:pPr marL="378588" lvl="1" indent="-189294" algn="l">
              <a:lnSpc>
                <a:spcPts val="2191"/>
              </a:lnSpc>
              <a:buFont typeface="Arial"/>
              <a:buChar char="•"/>
            </a:pPr>
            <a:r>
              <a:rPr lang="en-US" sz="1753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Assume fixed influence or one-time adoption, ignoring changing user choices.</a:t>
            </a:r>
          </a:p>
          <a:p>
            <a:pPr marL="378588" lvl="1" indent="-189294" algn="l">
              <a:lnSpc>
                <a:spcPts val="2191"/>
              </a:lnSpc>
              <a:buFont typeface="Arial"/>
              <a:buChar char="•"/>
            </a:pPr>
            <a:r>
              <a:rPr lang="en-US" sz="1753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Fail to capture coexistence seen in real markets.</a:t>
            </a:r>
          </a:p>
          <a:p>
            <a:pPr algn="l">
              <a:lnSpc>
                <a:spcPts val="2191"/>
              </a:lnSpc>
            </a:pPr>
            <a:endParaRPr lang="en-US" sz="1753" b="1">
              <a:solidFill>
                <a:srgbClr val="0B1320"/>
              </a:solidFill>
              <a:latin typeface="Literata Bold"/>
              <a:ea typeface="Literata Bold"/>
              <a:cs typeface="Literata Bold"/>
              <a:sym typeface="Literata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60506" y="4877741"/>
            <a:ext cx="5475887" cy="51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0"/>
              </a:lnSpc>
            </a:pPr>
            <a:r>
              <a:rPr lang="en-US" sz="3296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Gaps in Existing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4989353" y="3311917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939378"/>
            <a:ext cx="4605294" cy="5399643"/>
            <a:chOff x="0" y="0"/>
            <a:chExt cx="1212917" cy="14221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2917" cy="1422128"/>
            </a:xfrm>
            <a:custGeom>
              <a:avLst/>
              <a:gdLst/>
              <a:ahLst/>
              <a:cxnLst/>
              <a:rect l="l" t="t" r="r" b="b"/>
              <a:pathLst>
                <a:path w="1212917" h="1422128">
                  <a:moveTo>
                    <a:pt x="84055" y="0"/>
                  </a:moveTo>
                  <a:lnTo>
                    <a:pt x="1128862" y="0"/>
                  </a:lnTo>
                  <a:cubicBezTo>
                    <a:pt x="1151155" y="0"/>
                    <a:pt x="1172535" y="8856"/>
                    <a:pt x="1188298" y="24619"/>
                  </a:cubicBezTo>
                  <a:cubicBezTo>
                    <a:pt x="1204061" y="40382"/>
                    <a:pt x="1212917" y="61762"/>
                    <a:pt x="1212917" y="84055"/>
                  </a:cubicBezTo>
                  <a:lnTo>
                    <a:pt x="1212917" y="1338074"/>
                  </a:lnTo>
                  <a:cubicBezTo>
                    <a:pt x="1212917" y="1360366"/>
                    <a:pt x="1204061" y="1381746"/>
                    <a:pt x="1188298" y="1397509"/>
                  </a:cubicBezTo>
                  <a:cubicBezTo>
                    <a:pt x="1172535" y="1413272"/>
                    <a:pt x="1151155" y="1422128"/>
                    <a:pt x="1128862" y="1422128"/>
                  </a:cubicBezTo>
                  <a:lnTo>
                    <a:pt x="84055" y="1422128"/>
                  </a:lnTo>
                  <a:cubicBezTo>
                    <a:pt x="61762" y="1422128"/>
                    <a:pt x="40382" y="1413272"/>
                    <a:pt x="24619" y="1397509"/>
                  </a:cubicBezTo>
                  <a:cubicBezTo>
                    <a:pt x="8856" y="1381746"/>
                    <a:pt x="0" y="1360366"/>
                    <a:pt x="0" y="1338074"/>
                  </a:cubicBezTo>
                  <a:lnTo>
                    <a:pt x="0" y="84055"/>
                  </a:lnTo>
                  <a:cubicBezTo>
                    <a:pt x="0" y="61762"/>
                    <a:pt x="8856" y="40382"/>
                    <a:pt x="24619" y="24619"/>
                  </a:cubicBezTo>
                  <a:cubicBezTo>
                    <a:pt x="40382" y="8856"/>
                    <a:pt x="61762" y="0"/>
                    <a:pt x="84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212917" cy="1422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95994" y="2939378"/>
            <a:ext cx="4605294" cy="5399643"/>
            <a:chOff x="0" y="0"/>
            <a:chExt cx="1212917" cy="1422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2917" cy="1422128"/>
            </a:xfrm>
            <a:custGeom>
              <a:avLst/>
              <a:gdLst/>
              <a:ahLst/>
              <a:cxnLst/>
              <a:rect l="l" t="t" r="r" b="b"/>
              <a:pathLst>
                <a:path w="1212917" h="1422128">
                  <a:moveTo>
                    <a:pt x="84055" y="0"/>
                  </a:moveTo>
                  <a:lnTo>
                    <a:pt x="1128862" y="0"/>
                  </a:lnTo>
                  <a:cubicBezTo>
                    <a:pt x="1151155" y="0"/>
                    <a:pt x="1172535" y="8856"/>
                    <a:pt x="1188298" y="24619"/>
                  </a:cubicBezTo>
                  <a:cubicBezTo>
                    <a:pt x="1204061" y="40382"/>
                    <a:pt x="1212917" y="61762"/>
                    <a:pt x="1212917" y="84055"/>
                  </a:cubicBezTo>
                  <a:lnTo>
                    <a:pt x="1212917" y="1338074"/>
                  </a:lnTo>
                  <a:cubicBezTo>
                    <a:pt x="1212917" y="1360366"/>
                    <a:pt x="1204061" y="1381746"/>
                    <a:pt x="1188298" y="1397509"/>
                  </a:cubicBezTo>
                  <a:cubicBezTo>
                    <a:pt x="1172535" y="1413272"/>
                    <a:pt x="1151155" y="1422128"/>
                    <a:pt x="1128862" y="1422128"/>
                  </a:cubicBezTo>
                  <a:lnTo>
                    <a:pt x="84055" y="1422128"/>
                  </a:lnTo>
                  <a:cubicBezTo>
                    <a:pt x="61762" y="1422128"/>
                    <a:pt x="40382" y="1413272"/>
                    <a:pt x="24619" y="1397509"/>
                  </a:cubicBezTo>
                  <a:cubicBezTo>
                    <a:pt x="8856" y="1381746"/>
                    <a:pt x="0" y="1360366"/>
                    <a:pt x="0" y="1338074"/>
                  </a:cubicBezTo>
                  <a:lnTo>
                    <a:pt x="0" y="84055"/>
                  </a:lnTo>
                  <a:cubicBezTo>
                    <a:pt x="0" y="61762"/>
                    <a:pt x="8856" y="40382"/>
                    <a:pt x="24619" y="24619"/>
                  </a:cubicBezTo>
                  <a:cubicBezTo>
                    <a:pt x="40382" y="8856"/>
                    <a:pt x="61762" y="0"/>
                    <a:pt x="84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212917" cy="1422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633994" y="5639199"/>
            <a:ext cx="762000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11763289" y="2939378"/>
            <a:ext cx="4830681" cy="5399643"/>
            <a:chOff x="0" y="0"/>
            <a:chExt cx="1272278" cy="14221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2278" cy="1422128"/>
            </a:xfrm>
            <a:custGeom>
              <a:avLst/>
              <a:gdLst/>
              <a:ahLst/>
              <a:cxnLst/>
              <a:rect l="l" t="t" r="r" b="b"/>
              <a:pathLst>
                <a:path w="1272278" h="1422128">
                  <a:moveTo>
                    <a:pt x="80133" y="0"/>
                  </a:moveTo>
                  <a:lnTo>
                    <a:pt x="1192145" y="0"/>
                  </a:lnTo>
                  <a:cubicBezTo>
                    <a:pt x="1236401" y="0"/>
                    <a:pt x="1272278" y="35877"/>
                    <a:pt x="1272278" y="80133"/>
                  </a:cubicBezTo>
                  <a:lnTo>
                    <a:pt x="1272278" y="1341995"/>
                  </a:lnTo>
                  <a:cubicBezTo>
                    <a:pt x="1272278" y="1363248"/>
                    <a:pt x="1263836" y="1383630"/>
                    <a:pt x="1248808" y="1398658"/>
                  </a:cubicBezTo>
                  <a:cubicBezTo>
                    <a:pt x="1233780" y="1413686"/>
                    <a:pt x="1213398" y="1422128"/>
                    <a:pt x="1192145" y="1422128"/>
                  </a:cubicBezTo>
                  <a:lnTo>
                    <a:pt x="80133" y="1422128"/>
                  </a:lnTo>
                  <a:cubicBezTo>
                    <a:pt x="35877" y="1422128"/>
                    <a:pt x="0" y="1386251"/>
                    <a:pt x="0" y="1341995"/>
                  </a:cubicBezTo>
                  <a:lnTo>
                    <a:pt x="0" y="80133"/>
                  </a:lnTo>
                  <a:cubicBezTo>
                    <a:pt x="0" y="35877"/>
                    <a:pt x="35877" y="0"/>
                    <a:pt x="801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272278" cy="1422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001289" y="5639199"/>
            <a:ext cx="762000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1028700" y="3372940"/>
            <a:ext cx="4605294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Why bi-SIS?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288864"/>
            <a:ext cx="4605294" cy="375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It allows users to:</a:t>
            </a:r>
          </a:p>
          <a:p>
            <a:pPr marL="921068" lvl="2" indent="-307023" algn="l">
              <a:lnSpc>
                <a:spcPts val="2986"/>
              </a:lnSpc>
              <a:buFont typeface="Arial"/>
              <a:buChar char="⚬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Adopt one product,</a:t>
            </a:r>
          </a:p>
          <a:p>
            <a:pPr marL="921068" lvl="2" indent="-307023" algn="l">
              <a:lnSpc>
                <a:spcPts val="2986"/>
              </a:lnSpc>
              <a:buFont typeface="Arial"/>
              <a:buChar char="⚬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Drop it and become susceptible again,</a:t>
            </a:r>
          </a:p>
          <a:p>
            <a:pPr marL="921068" lvl="2" indent="-307023" algn="l">
              <a:lnSpc>
                <a:spcPts val="2986"/>
              </a:lnSpc>
              <a:buFont typeface="Arial"/>
              <a:buChar char="⚬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Adopt the other product later.</a:t>
            </a:r>
          </a:p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This captures real-world switching behavior and competition between alternatives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616" y="744236"/>
            <a:ext cx="1672276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Modeling Approach — Bi-SIS Framework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5994" y="3372940"/>
            <a:ext cx="4605294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Core 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49694" y="3372940"/>
            <a:ext cx="4605294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 Extension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49694" y="4288864"/>
            <a:ext cx="4605294" cy="375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Add targeted community formation among selected users</a:t>
            </a:r>
          </a:p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Apply budget and user-cost constraints</a:t>
            </a:r>
          </a:p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Find optimal user-targeting strategies to maximize Product 2’s market share</a:t>
            </a:r>
          </a:p>
          <a:p>
            <a:pPr marL="460534" lvl="1" indent="-230267" algn="l">
              <a:lnSpc>
                <a:spcPts val="2986"/>
              </a:lnSpc>
              <a:buFont typeface="Arial"/>
              <a:buChar char="•"/>
            </a:pPr>
            <a:r>
              <a:rPr lang="en-US" sz="2133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Validate through real-network simulations (Facebook datasets)</a:t>
            </a:r>
          </a:p>
          <a:p>
            <a:pPr algn="l">
              <a:lnSpc>
                <a:spcPts val="2986"/>
              </a:lnSpc>
            </a:pPr>
            <a:endParaRPr lang="en-US" sz="2133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86798" y="4288864"/>
            <a:ext cx="362368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ẋᵢ = β₁(1 − xᵢ − yᵢ) Σⱼ aᵢⱼxⱼ − δ₁xᵢ 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ẏᵢ = β₂(1 − xᵢ − yᵢ) Σⱼ aᵢⱼyⱼ − δ₂yᵢ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6436" y="4633669"/>
            <a:ext cx="4364412" cy="351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/>
          </a:p>
          <a:p>
            <a:pPr algn="ctr">
              <a:lnSpc>
                <a:spcPts val="2800"/>
              </a:lnSpc>
            </a:pPr>
            <a:endParaRPr/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💡 Intuition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1 spreads through the original network A, with rate B1 and drops down the product with delta 1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2 spreads through A  ,with rate B2 and drops down the product with delta 2</a:t>
            </a:r>
          </a:p>
        </p:txBody>
      </p:sp>
      <p:sp>
        <p:nvSpPr>
          <p:cNvPr id="22" name="Freeform 22"/>
          <p:cNvSpPr/>
          <p:nvPr/>
        </p:nvSpPr>
        <p:spPr>
          <a:xfrm rot="-8100000">
            <a:off x="-8624923" y="7159130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2" y="0"/>
                </a:lnTo>
                <a:lnTo>
                  <a:pt x="11236062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4734982" y="2885087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9"/>
                </a:lnTo>
                <a:lnTo>
                  <a:pt x="0" y="1674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047943"/>
            <a:ext cx="9430624" cy="7800914"/>
            <a:chOff x="0" y="0"/>
            <a:chExt cx="2483786" cy="20545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3786" cy="2054562"/>
            </a:xfrm>
            <a:custGeom>
              <a:avLst/>
              <a:gdLst/>
              <a:ahLst/>
              <a:cxnLst/>
              <a:rect l="l" t="t" r="r" b="b"/>
              <a:pathLst>
                <a:path w="2483786" h="2054562">
                  <a:moveTo>
                    <a:pt x="41047" y="0"/>
                  </a:moveTo>
                  <a:lnTo>
                    <a:pt x="2442739" y="0"/>
                  </a:lnTo>
                  <a:cubicBezTo>
                    <a:pt x="2465408" y="0"/>
                    <a:pt x="2483786" y="18377"/>
                    <a:pt x="2483786" y="41047"/>
                  </a:cubicBezTo>
                  <a:lnTo>
                    <a:pt x="2483786" y="2013515"/>
                  </a:lnTo>
                  <a:cubicBezTo>
                    <a:pt x="2483786" y="2036184"/>
                    <a:pt x="2465408" y="2054562"/>
                    <a:pt x="2442739" y="2054562"/>
                  </a:cubicBezTo>
                  <a:lnTo>
                    <a:pt x="41047" y="2054562"/>
                  </a:lnTo>
                  <a:cubicBezTo>
                    <a:pt x="18377" y="2054562"/>
                    <a:pt x="0" y="2036184"/>
                    <a:pt x="0" y="2013515"/>
                  </a:cubicBezTo>
                  <a:lnTo>
                    <a:pt x="0" y="41047"/>
                  </a:lnTo>
                  <a:cubicBezTo>
                    <a:pt x="0" y="18377"/>
                    <a:pt x="18377" y="0"/>
                    <a:pt x="410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83786" cy="2054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798498" y="3044507"/>
            <a:ext cx="6460802" cy="4400270"/>
          </a:xfrm>
          <a:custGeom>
            <a:avLst/>
            <a:gdLst/>
            <a:ahLst/>
            <a:cxnLst/>
            <a:rect l="l" t="t" r="r" b="b"/>
            <a:pathLst>
              <a:path w="6460802" h="4400270">
                <a:moveTo>
                  <a:pt x="0" y="0"/>
                </a:moveTo>
                <a:lnTo>
                  <a:pt x="6460802" y="0"/>
                </a:lnTo>
                <a:lnTo>
                  <a:pt x="6460802" y="4400271"/>
                </a:lnTo>
                <a:lnTo>
                  <a:pt x="0" y="4400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2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92863" y="636974"/>
            <a:ext cx="5537262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System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385" y="2185670"/>
            <a:ext cx="8920200" cy="166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3F6FA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Objective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3F6FA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To maximize the long-term market share of a new (weaker) product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3F6FA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by targeting specific users and recruiting them into a community that amplifies product influence.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385" y="4006764"/>
            <a:ext cx="9253938" cy="234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Network Setup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market is represented as a social graph G(N, E):</a:t>
            </a:r>
          </a:p>
          <a:p>
            <a:pPr marL="906786" lvl="2" indent="-302262" algn="l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Nodes (N): users</a:t>
            </a:r>
          </a:p>
          <a:p>
            <a:pPr marL="906786" lvl="2" indent="-302262" algn="l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Edges (E): social connections (friendship, information exchange)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1 = dominant product (already popular)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2 = new / weaker product entering the same network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5385" y="6711285"/>
            <a:ext cx="9077253" cy="269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Community Formation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company creates a community (layer F) — an online forum, subreddit, or influencer group -where users actively discuss Product 2.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Each user i participates with probability u_i.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Any two participating users i, j influence each other with additional weight γu_i u_j.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26294" y="-3719573"/>
            <a:ext cx="11892632" cy="17726146"/>
          </a:xfrm>
          <a:custGeom>
            <a:avLst/>
            <a:gdLst/>
            <a:ahLst/>
            <a:cxnLst/>
            <a:rect l="l" t="t" r="r" b="b"/>
            <a:pathLst>
              <a:path w="11892632" h="17726146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0465" y="7481088"/>
            <a:ext cx="11298490" cy="2436370"/>
          </a:xfrm>
          <a:custGeom>
            <a:avLst/>
            <a:gdLst/>
            <a:ahLst/>
            <a:cxnLst/>
            <a:rect l="l" t="t" r="r" b="b"/>
            <a:pathLst>
              <a:path w="11298490" h="2436370">
                <a:moveTo>
                  <a:pt x="0" y="0"/>
                </a:moveTo>
                <a:lnTo>
                  <a:pt x="11298490" y="0"/>
                </a:lnTo>
                <a:lnTo>
                  <a:pt x="11298490" y="2436370"/>
                </a:lnTo>
                <a:lnTo>
                  <a:pt x="0" y="2436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2" t="-395" b="-15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82364" y="5389810"/>
            <a:ext cx="5843021" cy="1320896"/>
          </a:xfrm>
          <a:custGeom>
            <a:avLst/>
            <a:gdLst/>
            <a:ahLst/>
            <a:cxnLst/>
            <a:rect l="l" t="t" r="r" b="b"/>
            <a:pathLst>
              <a:path w="5843021" h="1320896">
                <a:moveTo>
                  <a:pt x="0" y="0"/>
                </a:moveTo>
                <a:lnTo>
                  <a:pt x="5843021" y="0"/>
                </a:lnTo>
                <a:lnTo>
                  <a:pt x="5843021" y="1320895"/>
                </a:lnTo>
                <a:lnTo>
                  <a:pt x="0" y="1320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389810"/>
            <a:ext cx="5891891" cy="1619393"/>
          </a:xfrm>
          <a:custGeom>
            <a:avLst/>
            <a:gdLst/>
            <a:ahLst/>
            <a:cxnLst/>
            <a:rect l="l" t="t" r="r" b="b"/>
            <a:pathLst>
              <a:path w="5891891" h="1619393">
                <a:moveTo>
                  <a:pt x="0" y="0"/>
                </a:moveTo>
                <a:lnTo>
                  <a:pt x="5891891" y="0"/>
                </a:lnTo>
                <a:lnTo>
                  <a:pt x="5891891" y="1619393"/>
                </a:lnTo>
                <a:lnTo>
                  <a:pt x="0" y="16193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630" b="-18731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7171" y="1120909"/>
            <a:ext cx="10378455" cy="144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1"/>
              </a:lnSpc>
            </a:pPr>
            <a:r>
              <a:rPr lang="en-US" sz="10900" b="1" spc="-218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bi-SIS System Equations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74" y="2527527"/>
            <a:ext cx="11460160" cy="1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360" lvl="1" indent="-243180" algn="l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Competing products spread in a social network G(N,E) with adjacency matrix A.</a:t>
            </a:r>
          </a:p>
          <a:p>
            <a:pPr marL="486360" lvl="1" indent="-243180" algn="just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Each user i can be: </a:t>
            </a:r>
          </a:p>
          <a:p>
            <a:pPr marL="972719" lvl="2" indent="-324240" algn="just">
              <a:lnSpc>
                <a:spcPts val="3153"/>
              </a:lnSpc>
              <a:buFont typeface="Arial"/>
              <a:buChar char="⚬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1 user (xᵢ), </a:t>
            </a:r>
          </a:p>
          <a:p>
            <a:pPr marL="972719" lvl="2" indent="-324240" algn="just">
              <a:lnSpc>
                <a:spcPts val="3153"/>
              </a:lnSpc>
              <a:buFont typeface="Arial"/>
              <a:buChar char="⚬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2 user (yᵢ)</a:t>
            </a:r>
          </a:p>
          <a:p>
            <a:pPr marL="972719" lvl="2" indent="-324240" algn="just">
              <a:lnSpc>
                <a:spcPts val="3153"/>
              </a:lnSpc>
              <a:buFont typeface="Arial"/>
              <a:buChar char="⚬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Susceptible (1 − xᵢ − yᵢ).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7037" y="5048928"/>
            <a:ext cx="10130380" cy="3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360" lvl="1" indent="-243180" algn="just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In matrix 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5517" y="6790162"/>
            <a:ext cx="1215074" cy="39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3"/>
              </a:lnSpc>
            </a:pPr>
            <a:r>
              <a:rPr lang="en-US" sz="2252" b="1" u="sng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  <a:hlinkClick r:id="rId7" action="ppaction://hlinksldjump"/>
              </a:rPr>
              <a:t>[How]?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7171" y="4880133"/>
            <a:ext cx="2826773" cy="3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360" lvl="1" indent="-243180" algn="just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System Equation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3972" y="2865618"/>
            <a:ext cx="7162144" cy="673407"/>
            <a:chOff x="0" y="0"/>
            <a:chExt cx="1886326" cy="177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6326" cy="177358"/>
            </a:xfrm>
            <a:custGeom>
              <a:avLst/>
              <a:gdLst/>
              <a:ahLst/>
              <a:cxnLst/>
              <a:rect l="l" t="t" r="r" b="b"/>
              <a:pathLst>
                <a:path w="1886326" h="177358">
                  <a:moveTo>
                    <a:pt x="0" y="0"/>
                  </a:moveTo>
                  <a:lnTo>
                    <a:pt x="1886326" y="0"/>
                  </a:lnTo>
                  <a:lnTo>
                    <a:pt x="1886326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886326" cy="177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539025"/>
            <a:ext cx="7732688" cy="2027848"/>
            <a:chOff x="0" y="0"/>
            <a:chExt cx="2036593" cy="5340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6593" cy="534083"/>
            </a:xfrm>
            <a:custGeom>
              <a:avLst/>
              <a:gdLst/>
              <a:ahLst/>
              <a:cxnLst/>
              <a:rect l="l" t="t" r="r" b="b"/>
              <a:pathLst>
                <a:path w="2036593" h="534083">
                  <a:moveTo>
                    <a:pt x="0" y="0"/>
                  </a:moveTo>
                  <a:lnTo>
                    <a:pt x="2036593" y="0"/>
                  </a:lnTo>
                  <a:lnTo>
                    <a:pt x="2036593" y="534083"/>
                  </a:lnTo>
                  <a:lnTo>
                    <a:pt x="0" y="5340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36593" cy="534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8100000">
            <a:off x="-3464289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100000">
            <a:off x="16132630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61839" y="5862148"/>
            <a:ext cx="6066410" cy="2680507"/>
          </a:xfrm>
          <a:custGeom>
            <a:avLst/>
            <a:gdLst/>
            <a:ahLst/>
            <a:cxnLst/>
            <a:rect l="l" t="t" r="r" b="b"/>
            <a:pathLst>
              <a:path w="6066410" h="2680507">
                <a:moveTo>
                  <a:pt x="0" y="0"/>
                </a:moveTo>
                <a:lnTo>
                  <a:pt x="6066410" y="0"/>
                </a:lnTo>
                <a:lnTo>
                  <a:pt x="6066410" y="2680507"/>
                </a:lnTo>
                <a:lnTo>
                  <a:pt x="0" y="2680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13972" y="3726008"/>
            <a:ext cx="7162144" cy="163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Maximize the steady-state market share of the new (weaker) product Product 2 under a limited marketing budget C.</a:t>
            </a:r>
          </a:p>
          <a:p>
            <a:pPr algn="just">
              <a:lnSpc>
                <a:spcPts val="3250"/>
              </a:lnSpc>
            </a:pPr>
            <a:endParaRPr lang="en-US" sz="26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3972" y="2987057"/>
            <a:ext cx="7162144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1">
                <a:solidFill>
                  <a:srgbClr val="0B1320"/>
                </a:solidFill>
                <a:latin typeface="Literata Bold"/>
                <a:ea typeface="Literata Bold"/>
                <a:cs typeface="Literata Bold"/>
                <a:sym typeface="Literata Bold"/>
              </a:rPr>
              <a:t>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4161" y="6119800"/>
            <a:ext cx="4486947" cy="373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Why √γ in the Constraint</a:t>
            </a:r>
          </a:p>
          <a:p>
            <a:pPr algn="l">
              <a:lnSpc>
                <a:spcPts val="2749"/>
              </a:lnSpc>
            </a:pPr>
            <a:endParaRPr lang="en-US" sz="2199" b="1">
              <a:solidFill>
                <a:srgbClr val="F3F6FA"/>
              </a:solidFill>
              <a:latin typeface="Literata Bold"/>
              <a:ea typeface="Literata Bold"/>
              <a:cs typeface="Literata Bold"/>
              <a:sym typeface="Literata Bold"/>
            </a:endParaRPr>
          </a:p>
          <a:p>
            <a:pPr algn="l">
              <a:lnSpc>
                <a:spcPts val="2463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• Keeps scaling between γ and u consistent in A + γuu^T.</a:t>
            </a:r>
          </a:p>
          <a:p>
            <a:pPr algn="l">
              <a:lnSpc>
                <a:spcPts val="2463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• If u is scaled by constant c, setting γ’ = γ / c^2 leaves γuu^T unchanged.</a:t>
            </a:r>
          </a:p>
          <a:p>
            <a:pPr algn="l">
              <a:lnSpc>
                <a:spcPts val="2463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• Allows flexible budget allocation between recruitment (u) and influence (γ) without changing results.</a:t>
            </a:r>
          </a:p>
          <a:p>
            <a:pPr algn="l">
              <a:lnSpc>
                <a:spcPts val="2463"/>
              </a:lnSpc>
            </a:pPr>
            <a:endParaRPr lang="en-US" sz="197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l">
              <a:lnSpc>
                <a:spcPts val="2463"/>
              </a:lnSpc>
            </a:pPr>
            <a:endParaRPr lang="en-US" sz="197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3554144" y="1656922"/>
            <a:ext cx="9736232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31"/>
              </a:lnSpc>
            </a:pPr>
            <a:r>
              <a:rPr lang="en-US" sz="6799" b="1" spc="-13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 Setup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26612" y="5921852"/>
            <a:ext cx="5142046" cy="3513134"/>
            <a:chOff x="0" y="0"/>
            <a:chExt cx="1354284" cy="9252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4284" cy="925270"/>
            </a:xfrm>
            <a:custGeom>
              <a:avLst/>
              <a:gdLst/>
              <a:ahLst/>
              <a:cxnLst/>
              <a:rect l="l" t="t" r="r" b="b"/>
              <a:pathLst>
                <a:path w="1354284" h="925270">
                  <a:moveTo>
                    <a:pt x="75281" y="0"/>
                  </a:moveTo>
                  <a:lnTo>
                    <a:pt x="1279003" y="0"/>
                  </a:lnTo>
                  <a:cubicBezTo>
                    <a:pt x="1298969" y="0"/>
                    <a:pt x="1318117" y="7931"/>
                    <a:pt x="1332235" y="22049"/>
                  </a:cubicBezTo>
                  <a:cubicBezTo>
                    <a:pt x="1346352" y="36167"/>
                    <a:pt x="1354284" y="55315"/>
                    <a:pt x="1354284" y="75281"/>
                  </a:cubicBezTo>
                  <a:lnTo>
                    <a:pt x="1354284" y="849989"/>
                  </a:lnTo>
                  <a:cubicBezTo>
                    <a:pt x="1354284" y="869955"/>
                    <a:pt x="1346352" y="889103"/>
                    <a:pt x="1332235" y="903221"/>
                  </a:cubicBezTo>
                  <a:cubicBezTo>
                    <a:pt x="1318117" y="917338"/>
                    <a:pt x="1298969" y="925270"/>
                    <a:pt x="1279003" y="925270"/>
                  </a:cubicBezTo>
                  <a:lnTo>
                    <a:pt x="75281" y="925270"/>
                  </a:lnTo>
                  <a:cubicBezTo>
                    <a:pt x="55315" y="925270"/>
                    <a:pt x="36167" y="917338"/>
                    <a:pt x="22049" y="903221"/>
                  </a:cubicBezTo>
                  <a:cubicBezTo>
                    <a:pt x="7931" y="889103"/>
                    <a:pt x="0" y="869955"/>
                    <a:pt x="0" y="849989"/>
                  </a:cubicBezTo>
                  <a:lnTo>
                    <a:pt x="0" y="75281"/>
                  </a:lnTo>
                  <a:cubicBezTo>
                    <a:pt x="0" y="55315"/>
                    <a:pt x="7931" y="36167"/>
                    <a:pt x="22049" y="22049"/>
                  </a:cubicBezTo>
                  <a:cubicBezTo>
                    <a:pt x="36167" y="7931"/>
                    <a:pt x="55315" y="0"/>
                    <a:pt x="752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54284" cy="925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26612" y="1807052"/>
            <a:ext cx="5142046" cy="3336448"/>
            <a:chOff x="0" y="0"/>
            <a:chExt cx="1354284" cy="8787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54284" cy="878735"/>
            </a:xfrm>
            <a:custGeom>
              <a:avLst/>
              <a:gdLst/>
              <a:ahLst/>
              <a:cxnLst/>
              <a:rect l="l" t="t" r="r" b="b"/>
              <a:pathLst>
                <a:path w="1354284" h="878735">
                  <a:moveTo>
                    <a:pt x="75281" y="0"/>
                  </a:moveTo>
                  <a:lnTo>
                    <a:pt x="1279003" y="0"/>
                  </a:lnTo>
                  <a:cubicBezTo>
                    <a:pt x="1298969" y="0"/>
                    <a:pt x="1318117" y="7931"/>
                    <a:pt x="1332235" y="22049"/>
                  </a:cubicBezTo>
                  <a:cubicBezTo>
                    <a:pt x="1346352" y="36167"/>
                    <a:pt x="1354284" y="55315"/>
                    <a:pt x="1354284" y="75281"/>
                  </a:cubicBezTo>
                  <a:lnTo>
                    <a:pt x="1354284" y="803455"/>
                  </a:lnTo>
                  <a:cubicBezTo>
                    <a:pt x="1354284" y="823420"/>
                    <a:pt x="1346352" y="842568"/>
                    <a:pt x="1332235" y="856686"/>
                  </a:cubicBezTo>
                  <a:cubicBezTo>
                    <a:pt x="1318117" y="870804"/>
                    <a:pt x="1298969" y="878735"/>
                    <a:pt x="1279003" y="878735"/>
                  </a:cubicBezTo>
                  <a:lnTo>
                    <a:pt x="75281" y="878735"/>
                  </a:lnTo>
                  <a:cubicBezTo>
                    <a:pt x="55315" y="878735"/>
                    <a:pt x="36167" y="870804"/>
                    <a:pt x="22049" y="856686"/>
                  </a:cubicBezTo>
                  <a:cubicBezTo>
                    <a:pt x="7931" y="842568"/>
                    <a:pt x="0" y="823420"/>
                    <a:pt x="0" y="803455"/>
                  </a:cubicBezTo>
                  <a:lnTo>
                    <a:pt x="0" y="75281"/>
                  </a:lnTo>
                  <a:cubicBezTo>
                    <a:pt x="0" y="55315"/>
                    <a:pt x="7931" y="36167"/>
                    <a:pt x="22049" y="22049"/>
                  </a:cubicBezTo>
                  <a:cubicBezTo>
                    <a:pt x="36167" y="7931"/>
                    <a:pt x="55315" y="0"/>
                    <a:pt x="752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354284" cy="878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690387" y="2081721"/>
            <a:ext cx="4814496" cy="276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Key Idea</a:t>
            </a:r>
          </a:p>
          <a:p>
            <a:pPr algn="l">
              <a:lnSpc>
                <a:spcPts val="2285"/>
              </a:lnSpc>
            </a:pPr>
            <a:endParaRPr lang="en-US" sz="2199" b="1">
              <a:solidFill>
                <a:srgbClr val="F3F6FA"/>
              </a:solidFill>
              <a:latin typeface="Literata Bold"/>
              <a:ea typeface="Literata Bold"/>
              <a:cs typeface="Literata Bold"/>
              <a:sym typeface="Literata Bold"/>
            </a:endParaRPr>
          </a:p>
          <a:p>
            <a:pPr algn="l">
              <a:lnSpc>
                <a:spcPts val="2462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company must optimally divide its budget between:</a:t>
            </a:r>
          </a:p>
          <a:p>
            <a:pPr algn="l">
              <a:lnSpc>
                <a:spcPts val="2462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• Recruiting users (increasing participation u_i), and</a:t>
            </a:r>
          </a:p>
          <a:p>
            <a:pPr algn="l">
              <a:lnSpc>
                <a:spcPts val="2462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• Improving communication (raising γ)</a:t>
            </a:r>
          </a:p>
          <a:p>
            <a:pPr algn="l">
              <a:lnSpc>
                <a:spcPts val="2462"/>
              </a:lnSpc>
            </a:pPr>
            <a:r>
              <a:rPr lang="en-US" sz="197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to maximize Product 2’s market share against the dominant Product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1313972" y="6605569"/>
            <a:ext cx="7162144" cy="2950943"/>
            <a:chOff x="0" y="0"/>
            <a:chExt cx="1886326" cy="7772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86326" cy="777203"/>
            </a:xfrm>
            <a:custGeom>
              <a:avLst/>
              <a:gdLst/>
              <a:ahLst/>
              <a:cxnLst/>
              <a:rect l="l" t="t" r="r" b="b"/>
              <a:pathLst>
                <a:path w="1886326" h="777203">
                  <a:moveTo>
                    <a:pt x="54048" y="0"/>
                  </a:moveTo>
                  <a:lnTo>
                    <a:pt x="1832278" y="0"/>
                  </a:lnTo>
                  <a:cubicBezTo>
                    <a:pt x="1862128" y="0"/>
                    <a:pt x="1886326" y="24198"/>
                    <a:pt x="1886326" y="54048"/>
                  </a:cubicBezTo>
                  <a:lnTo>
                    <a:pt x="1886326" y="723156"/>
                  </a:lnTo>
                  <a:cubicBezTo>
                    <a:pt x="1886326" y="753005"/>
                    <a:pt x="1862128" y="777203"/>
                    <a:pt x="1832278" y="777203"/>
                  </a:cubicBezTo>
                  <a:lnTo>
                    <a:pt x="54048" y="777203"/>
                  </a:lnTo>
                  <a:cubicBezTo>
                    <a:pt x="24198" y="777203"/>
                    <a:pt x="0" y="753005"/>
                    <a:pt x="0" y="723156"/>
                  </a:cubicBezTo>
                  <a:lnTo>
                    <a:pt x="0" y="54048"/>
                  </a:lnTo>
                  <a:cubicBezTo>
                    <a:pt x="0" y="24198"/>
                    <a:pt x="24198" y="0"/>
                    <a:pt x="540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886326" cy="777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028700" y="3105613"/>
            <a:ext cx="7732688" cy="2785110"/>
            <a:chOff x="0" y="0"/>
            <a:chExt cx="2036593" cy="733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6593" cy="733527"/>
            </a:xfrm>
            <a:custGeom>
              <a:avLst/>
              <a:gdLst/>
              <a:ahLst/>
              <a:cxnLst/>
              <a:rect l="l" t="t" r="r" b="b"/>
              <a:pathLst>
                <a:path w="2036593" h="73352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683467"/>
                  </a:lnTo>
                  <a:cubicBezTo>
                    <a:pt x="2036593" y="711114"/>
                    <a:pt x="2014180" y="733527"/>
                    <a:pt x="1986533" y="733527"/>
                  </a:cubicBezTo>
                  <a:lnTo>
                    <a:pt x="50060" y="733527"/>
                  </a:lnTo>
                  <a:cubicBezTo>
                    <a:pt x="36783" y="733527"/>
                    <a:pt x="24050" y="728253"/>
                    <a:pt x="14662" y="718865"/>
                  </a:cubicBezTo>
                  <a:cubicBezTo>
                    <a:pt x="5274" y="709477"/>
                    <a:pt x="0" y="696744"/>
                    <a:pt x="0" y="68346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36593" cy="73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3972" y="2816914"/>
            <a:ext cx="7162144" cy="623344"/>
            <a:chOff x="0" y="0"/>
            <a:chExt cx="1886326" cy="164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6326" cy="164173"/>
            </a:xfrm>
            <a:custGeom>
              <a:avLst/>
              <a:gdLst/>
              <a:ahLst/>
              <a:cxnLst/>
              <a:rect l="l" t="t" r="r" b="b"/>
              <a:pathLst>
                <a:path w="1886326" h="164173">
                  <a:moveTo>
                    <a:pt x="0" y="0"/>
                  </a:moveTo>
                  <a:lnTo>
                    <a:pt x="1886326" y="0"/>
                  </a:lnTo>
                  <a:lnTo>
                    <a:pt x="1886326" y="164173"/>
                  </a:lnTo>
                  <a:lnTo>
                    <a:pt x="0" y="164173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886326" cy="164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6612" y="3105613"/>
            <a:ext cx="7732688" cy="2785110"/>
            <a:chOff x="0" y="0"/>
            <a:chExt cx="2036593" cy="7335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6593" cy="733527"/>
            </a:xfrm>
            <a:custGeom>
              <a:avLst/>
              <a:gdLst/>
              <a:ahLst/>
              <a:cxnLst/>
              <a:rect l="l" t="t" r="r" b="b"/>
              <a:pathLst>
                <a:path w="2036593" h="733527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683467"/>
                  </a:lnTo>
                  <a:cubicBezTo>
                    <a:pt x="2036593" y="711114"/>
                    <a:pt x="2014180" y="733527"/>
                    <a:pt x="1986533" y="733527"/>
                  </a:cubicBezTo>
                  <a:lnTo>
                    <a:pt x="50060" y="733527"/>
                  </a:lnTo>
                  <a:cubicBezTo>
                    <a:pt x="36783" y="733527"/>
                    <a:pt x="24050" y="728253"/>
                    <a:pt x="14662" y="718865"/>
                  </a:cubicBezTo>
                  <a:cubicBezTo>
                    <a:pt x="5274" y="709477"/>
                    <a:pt x="0" y="696744"/>
                    <a:pt x="0" y="683467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036593" cy="73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6612" y="6283118"/>
            <a:ext cx="7732688" cy="3460721"/>
            <a:chOff x="0" y="0"/>
            <a:chExt cx="2036593" cy="9114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6593" cy="911466"/>
            </a:xfrm>
            <a:custGeom>
              <a:avLst/>
              <a:gdLst/>
              <a:ahLst/>
              <a:cxnLst/>
              <a:rect l="l" t="t" r="r" b="b"/>
              <a:pathLst>
                <a:path w="2036593" h="911466">
                  <a:moveTo>
                    <a:pt x="50060" y="0"/>
                  </a:moveTo>
                  <a:lnTo>
                    <a:pt x="1986533" y="0"/>
                  </a:lnTo>
                  <a:cubicBezTo>
                    <a:pt x="1999810" y="0"/>
                    <a:pt x="2012543" y="5274"/>
                    <a:pt x="2021931" y="14662"/>
                  </a:cubicBezTo>
                  <a:cubicBezTo>
                    <a:pt x="2031319" y="24050"/>
                    <a:pt x="2036593" y="36783"/>
                    <a:pt x="2036593" y="50060"/>
                  </a:cubicBezTo>
                  <a:lnTo>
                    <a:pt x="2036593" y="861406"/>
                  </a:lnTo>
                  <a:cubicBezTo>
                    <a:pt x="2036593" y="874683"/>
                    <a:pt x="2031319" y="887415"/>
                    <a:pt x="2021931" y="896803"/>
                  </a:cubicBezTo>
                  <a:cubicBezTo>
                    <a:pt x="2012543" y="906191"/>
                    <a:pt x="1999810" y="911466"/>
                    <a:pt x="1986533" y="911466"/>
                  </a:cubicBezTo>
                  <a:lnTo>
                    <a:pt x="50060" y="911466"/>
                  </a:lnTo>
                  <a:cubicBezTo>
                    <a:pt x="22412" y="911466"/>
                    <a:pt x="0" y="889053"/>
                    <a:pt x="0" y="861406"/>
                  </a:cubicBezTo>
                  <a:lnTo>
                    <a:pt x="0" y="50060"/>
                  </a:lnTo>
                  <a:cubicBezTo>
                    <a:pt x="0" y="36783"/>
                    <a:pt x="5274" y="24050"/>
                    <a:pt x="14662" y="14662"/>
                  </a:cubicBezTo>
                  <a:cubicBezTo>
                    <a:pt x="24050" y="5274"/>
                    <a:pt x="36783" y="0"/>
                    <a:pt x="500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036593" cy="911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700000">
            <a:off x="-3464289" y="6664482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609101" y="3533700"/>
            <a:ext cx="2997166" cy="1064783"/>
          </a:xfrm>
          <a:custGeom>
            <a:avLst/>
            <a:gdLst/>
            <a:ahLst/>
            <a:cxnLst/>
            <a:rect l="l" t="t" r="r" b="b"/>
            <a:pathLst>
              <a:path w="2997166" h="1064783">
                <a:moveTo>
                  <a:pt x="0" y="0"/>
                </a:moveTo>
                <a:lnTo>
                  <a:pt x="2997166" y="0"/>
                </a:lnTo>
                <a:lnTo>
                  <a:pt x="2997166" y="1064782"/>
                </a:lnTo>
                <a:lnTo>
                  <a:pt x="0" y="1064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71296" y="7001273"/>
            <a:ext cx="4122087" cy="512476"/>
          </a:xfrm>
          <a:custGeom>
            <a:avLst/>
            <a:gdLst/>
            <a:ahLst/>
            <a:cxnLst/>
            <a:rect l="l" t="t" r="r" b="b"/>
            <a:pathLst>
              <a:path w="4122087" h="512476">
                <a:moveTo>
                  <a:pt x="0" y="0"/>
                </a:moveTo>
                <a:lnTo>
                  <a:pt x="4122086" y="0"/>
                </a:lnTo>
                <a:lnTo>
                  <a:pt x="4122086" y="512475"/>
                </a:lnTo>
                <a:lnTo>
                  <a:pt x="0" y="51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8700" y="7861583"/>
            <a:ext cx="7447416" cy="1694929"/>
          </a:xfrm>
          <a:custGeom>
            <a:avLst/>
            <a:gdLst/>
            <a:ahLst/>
            <a:cxnLst/>
            <a:rect l="l" t="t" r="r" b="b"/>
            <a:pathLst>
              <a:path w="7447416" h="1694929">
                <a:moveTo>
                  <a:pt x="0" y="0"/>
                </a:moveTo>
                <a:lnTo>
                  <a:pt x="7447416" y="0"/>
                </a:lnTo>
                <a:lnTo>
                  <a:pt x="7447416" y="1694930"/>
                </a:lnTo>
                <a:lnTo>
                  <a:pt x="0" y="1694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8700" y="1656922"/>
            <a:ext cx="12364256" cy="91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b="1" spc="-13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Analysis of Product 2’s Market Share (𝑦̄)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3972" y="2933908"/>
            <a:ext cx="7162144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Objective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3972" y="3716483"/>
            <a:ext cx="7162144" cy="206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To analyze: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minimum budget needed for Product 2 to achieve a positive steady-state market share </a:t>
            </a:r>
          </a:p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     (𝑦̄ &gt; 0)</a:t>
            </a:r>
          </a:p>
          <a:p>
            <a:pPr marL="474979" lvl="1" indent="-237490" algn="l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How changes in user engagement (uᵢ) affect the market share under a fixed budget.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13972" y="6083712"/>
            <a:ext cx="7162144" cy="623344"/>
            <a:chOff x="0" y="0"/>
            <a:chExt cx="1886326" cy="1641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86326" cy="164173"/>
            </a:xfrm>
            <a:custGeom>
              <a:avLst/>
              <a:gdLst/>
              <a:ahLst/>
              <a:cxnLst/>
              <a:rect l="l" t="t" r="r" b="b"/>
              <a:pathLst>
                <a:path w="1886326" h="164173">
                  <a:moveTo>
                    <a:pt x="0" y="0"/>
                  </a:moveTo>
                  <a:lnTo>
                    <a:pt x="1886326" y="0"/>
                  </a:lnTo>
                  <a:lnTo>
                    <a:pt x="1886326" y="164173"/>
                  </a:lnTo>
                  <a:lnTo>
                    <a:pt x="0" y="164173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886326" cy="164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13972" y="6175674"/>
            <a:ext cx="7162144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Survival Condition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526612" y="2841946"/>
            <a:ext cx="7162144" cy="623344"/>
            <a:chOff x="0" y="0"/>
            <a:chExt cx="1886326" cy="1641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86326" cy="164173"/>
            </a:xfrm>
            <a:custGeom>
              <a:avLst/>
              <a:gdLst/>
              <a:ahLst/>
              <a:cxnLst/>
              <a:rect l="l" t="t" r="r" b="b"/>
              <a:pathLst>
                <a:path w="1886326" h="164173">
                  <a:moveTo>
                    <a:pt x="0" y="0"/>
                  </a:moveTo>
                  <a:lnTo>
                    <a:pt x="1886326" y="0"/>
                  </a:lnTo>
                  <a:lnTo>
                    <a:pt x="1886326" y="164173"/>
                  </a:lnTo>
                  <a:lnTo>
                    <a:pt x="0" y="164173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886326" cy="164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526612" y="2933908"/>
            <a:ext cx="7162144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Proposition 1 - Budget Utilization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11884" y="4647842"/>
            <a:ext cx="7447416" cy="124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3" lvl="1" indent="-172721" algn="l">
              <a:lnSpc>
                <a:spcPts val="2000"/>
              </a:lnSpc>
              <a:buFont typeface="Arial"/>
              <a:buChar char="•"/>
            </a:pPr>
            <a:r>
              <a:rPr lang="en-US" sz="1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optimal market share is achieved only when the entire budget is used.</a:t>
            </a:r>
          </a:p>
          <a:p>
            <a:pPr marL="345443" lvl="1" indent="-172721" algn="l">
              <a:lnSpc>
                <a:spcPts val="2000"/>
              </a:lnSpc>
              <a:buFont typeface="Arial"/>
              <a:buChar char="•"/>
            </a:pPr>
            <a:r>
              <a:rPr lang="en-US" sz="1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Follows from the system’s monotonicity:</a:t>
            </a:r>
          </a:p>
          <a:p>
            <a:pPr marL="345443" lvl="1" indent="-172721" algn="l">
              <a:lnSpc>
                <a:spcPts val="2000"/>
              </a:lnSpc>
              <a:buFont typeface="Arial"/>
              <a:buChar char="•"/>
            </a:pPr>
            <a:r>
              <a:rPr lang="en-US" sz="16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𝑦̄ increases with both γ (communication strength) and u (user participation).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811884" y="6083712"/>
            <a:ext cx="7162144" cy="623344"/>
            <a:chOff x="0" y="0"/>
            <a:chExt cx="1886326" cy="16417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86326" cy="164173"/>
            </a:xfrm>
            <a:custGeom>
              <a:avLst/>
              <a:gdLst/>
              <a:ahLst/>
              <a:cxnLst/>
              <a:rect l="l" t="t" r="r" b="b"/>
              <a:pathLst>
                <a:path w="1886326" h="164173">
                  <a:moveTo>
                    <a:pt x="0" y="0"/>
                  </a:moveTo>
                  <a:lnTo>
                    <a:pt x="1886326" y="0"/>
                  </a:lnTo>
                  <a:lnTo>
                    <a:pt x="1886326" y="164173"/>
                  </a:lnTo>
                  <a:lnTo>
                    <a:pt x="0" y="164173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886326" cy="164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811884" y="6175674"/>
            <a:ext cx="7162144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7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Takeaway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11884" y="6893988"/>
            <a:ext cx="7162144" cy="240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 new product’s success depends jointly on:</a:t>
            </a:r>
          </a:p>
          <a:p>
            <a:pPr algn="just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marL="474979" lvl="1" indent="-237490" algn="just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Available market space (1 – x*),</a:t>
            </a:r>
          </a:p>
          <a:p>
            <a:pPr marL="474979" lvl="1" indent="-237490" algn="just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Community strength (γ), and</a:t>
            </a:r>
          </a:p>
          <a:p>
            <a:pPr marL="474979" lvl="1" indent="-237490" algn="just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User participation (u) </a:t>
            </a:r>
          </a:p>
          <a:p>
            <a:pPr marL="474979" lvl="1" indent="-237490" algn="just">
              <a:lnSpc>
                <a:spcPts val="274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all optimized within the total budget C.</a:t>
            </a:r>
          </a:p>
          <a:p>
            <a:pPr algn="just">
              <a:lnSpc>
                <a:spcPts val="2749"/>
              </a:lnSpc>
            </a:pPr>
            <a:endParaRPr lang="en-US" sz="2199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01731" y="7710757"/>
            <a:ext cx="942269" cy="2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877" b="1" u="sng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  <a:hlinkClick r:id="rId7" action="ppaction://hlinksldjump"/>
              </a:rPr>
              <a:t>[How?]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65343" y="-189470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27832" y="1487615"/>
            <a:ext cx="11532541" cy="70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5296" b="1" spc="-105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Challenge: Estimating Product 2’s Market Share</a:t>
            </a:r>
          </a:p>
        </p:txBody>
      </p:sp>
      <p:sp>
        <p:nvSpPr>
          <p:cNvPr id="4" name="Freeform 4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27832" y="2645870"/>
            <a:ext cx="14813222" cy="6465706"/>
          </a:xfrm>
          <a:custGeom>
            <a:avLst/>
            <a:gdLst/>
            <a:ahLst/>
            <a:cxnLst/>
            <a:rect l="l" t="t" r="r" b="b"/>
            <a:pathLst>
              <a:path w="14813222" h="6465706">
                <a:moveTo>
                  <a:pt x="0" y="0"/>
                </a:moveTo>
                <a:lnTo>
                  <a:pt x="14813222" y="0"/>
                </a:lnTo>
                <a:lnTo>
                  <a:pt x="14813222" y="6465706"/>
                </a:lnTo>
                <a:lnTo>
                  <a:pt x="0" y="6465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6293" y="-189470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8948" y="2555416"/>
            <a:ext cx="14339174" cy="6859937"/>
          </a:xfrm>
          <a:custGeom>
            <a:avLst/>
            <a:gdLst/>
            <a:ahLst/>
            <a:cxnLst/>
            <a:rect l="l" t="t" r="r" b="b"/>
            <a:pathLst>
              <a:path w="14339174" h="6859937">
                <a:moveTo>
                  <a:pt x="0" y="0"/>
                </a:moveTo>
                <a:lnTo>
                  <a:pt x="14339175" y="0"/>
                </a:lnTo>
                <a:lnTo>
                  <a:pt x="14339175" y="6859938"/>
                </a:lnTo>
                <a:lnTo>
                  <a:pt x="0" y="6859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085198" y="4118969"/>
            <a:ext cx="5996590" cy="4318819"/>
          </a:xfrm>
          <a:custGeom>
            <a:avLst/>
            <a:gdLst/>
            <a:ahLst/>
            <a:cxnLst/>
            <a:rect l="l" t="t" r="r" b="b"/>
            <a:pathLst>
              <a:path w="5996590" h="4318819">
                <a:moveTo>
                  <a:pt x="0" y="0"/>
                </a:moveTo>
                <a:lnTo>
                  <a:pt x="5996590" y="0"/>
                </a:lnTo>
                <a:lnTo>
                  <a:pt x="5996590" y="4318820"/>
                </a:lnTo>
                <a:lnTo>
                  <a:pt x="0" y="4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30" t="-2544" r="-329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25990" y="1358367"/>
            <a:ext cx="10808081" cy="89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b="1" spc="-13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Critical Parameters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6293" y="-189470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60930" y="1417262"/>
            <a:ext cx="10808081" cy="89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b="1" spc="-13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Sensitivity Analysis</a:t>
            </a:r>
          </a:p>
        </p:txBody>
      </p:sp>
      <p:sp>
        <p:nvSpPr>
          <p:cNvPr id="4" name="Freeform 4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60930" y="2455182"/>
            <a:ext cx="15098370" cy="7047538"/>
          </a:xfrm>
          <a:custGeom>
            <a:avLst/>
            <a:gdLst/>
            <a:ahLst/>
            <a:cxnLst/>
            <a:rect l="l" t="t" r="r" b="b"/>
            <a:pathLst>
              <a:path w="15098370" h="7047538">
                <a:moveTo>
                  <a:pt x="0" y="0"/>
                </a:moveTo>
                <a:lnTo>
                  <a:pt x="15098370" y="0"/>
                </a:lnTo>
                <a:lnTo>
                  <a:pt x="15098370" y="7047538"/>
                </a:lnTo>
                <a:lnTo>
                  <a:pt x="0" y="7047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45327" y="9550345"/>
            <a:ext cx="1086919" cy="32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489" u="sng" spc="-4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  <a:hlinkClick r:id="rId5" action="ppaction://hlinksldjump"/>
              </a:rPr>
              <a:t>[How?]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6293" y="-189470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6460" y="2458725"/>
            <a:ext cx="16513679" cy="7488567"/>
          </a:xfrm>
          <a:custGeom>
            <a:avLst/>
            <a:gdLst/>
            <a:ahLst/>
            <a:cxnLst/>
            <a:rect l="l" t="t" r="r" b="b"/>
            <a:pathLst>
              <a:path w="16513679" h="7488567">
                <a:moveTo>
                  <a:pt x="0" y="0"/>
                </a:moveTo>
                <a:lnTo>
                  <a:pt x="16513680" y="0"/>
                </a:lnTo>
                <a:lnTo>
                  <a:pt x="16513680" y="7488567"/>
                </a:lnTo>
                <a:lnTo>
                  <a:pt x="0" y="748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30" b="-4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02676" y="1162050"/>
            <a:ext cx="7141324" cy="985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7393" b="1" spc="-147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New objective 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6293" y="-189470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6077641" y="-3942177"/>
            <a:ext cx="5719997" cy="8525741"/>
          </a:xfrm>
          <a:custGeom>
            <a:avLst/>
            <a:gdLst/>
            <a:ahLst/>
            <a:cxnLst/>
            <a:rect l="l" t="t" r="r" b="b"/>
            <a:pathLst>
              <a:path w="5719997" h="8525741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1162" y="2199222"/>
            <a:ext cx="15104837" cy="7675023"/>
          </a:xfrm>
          <a:custGeom>
            <a:avLst/>
            <a:gdLst/>
            <a:ahLst/>
            <a:cxnLst/>
            <a:rect l="l" t="t" r="r" b="b"/>
            <a:pathLst>
              <a:path w="15104837" h="7675023">
                <a:moveTo>
                  <a:pt x="0" y="0"/>
                </a:moveTo>
                <a:lnTo>
                  <a:pt x="15104838" y="0"/>
                </a:lnTo>
                <a:lnTo>
                  <a:pt x="15104838" y="7675023"/>
                </a:lnTo>
                <a:lnTo>
                  <a:pt x="0" y="7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27430" y="1162050"/>
            <a:ext cx="11632612" cy="89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b="1" spc="-13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Finding Optimal solution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7719" y="-3719573"/>
            <a:ext cx="11892632" cy="17726146"/>
          </a:xfrm>
          <a:custGeom>
            <a:avLst/>
            <a:gdLst/>
            <a:ahLst/>
            <a:cxnLst/>
            <a:rect l="l" t="t" r="r" b="b"/>
            <a:pathLst>
              <a:path w="11892632" h="17726146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150643" y="1673922"/>
            <a:ext cx="6939157" cy="693915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07564" y="2230843"/>
            <a:ext cx="5825315" cy="58253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98698" r="-98698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28700" y="492732"/>
            <a:ext cx="7038349" cy="173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b="1" spc="-259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Experiments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535" y="2173693"/>
            <a:ext cx="10289211" cy="744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Objective: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Test if the proposed Local Search Algorithm (Algorithm 1) helps the weaker Product 2 survive against the stronger Product 1.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What’s being measured: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Improvement in the survival threshold — how well Product 2 sustains itself in the network.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Setup:</a:t>
            </a:r>
          </a:p>
          <a:p>
            <a:pPr marL="539751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Start with critical parameters from theory (μc,uc).</a:t>
            </a:r>
          </a:p>
          <a:p>
            <a:pPr marL="539751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Compare Algorithm 1’s performance against common baseline methods.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Think of it as: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“Does our smart targeting strategy really work better than traditional influence-based ones?”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F3F6FA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68527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013343" y="2062331"/>
            <a:ext cx="14175484" cy="7958137"/>
            <a:chOff x="0" y="0"/>
            <a:chExt cx="3733461" cy="20959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33461" cy="2095970"/>
            </a:xfrm>
            <a:custGeom>
              <a:avLst/>
              <a:gdLst/>
              <a:ahLst/>
              <a:cxnLst/>
              <a:rect l="l" t="t" r="r" b="b"/>
              <a:pathLst>
                <a:path w="3733461" h="2095970">
                  <a:moveTo>
                    <a:pt x="27307" y="0"/>
                  </a:moveTo>
                  <a:lnTo>
                    <a:pt x="3706154" y="0"/>
                  </a:lnTo>
                  <a:cubicBezTo>
                    <a:pt x="3713396" y="0"/>
                    <a:pt x="3720342" y="2877"/>
                    <a:pt x="3725463" y="7998"/>
                  </a:cubicBezTo>
                  <a:cubicBezTo>
                    <a:pt x="3730584" y="13119"/>
                    <a:pt x="3733461" y="20065"/>
                    <a:pt x="3733461" y="27307"/>
                  </a:cubicBezTo>
                  <a:lnTo>
                    <a:pt x="3733461" y="2068663"/>
                  </a:lnTo>
                  <a:cubicBezTo>
                    <a:pt x="3733461" y="2083744"/>
                    <a:pt x="3721235" y="2095970"/>
                    <a:pt x="3706154" y="2095970"/>
                  </a:cubicBezTo>
                  <a:lnTo>
                    <a:pt x="27307" y="2095970"/>
                  </a:lnTo>
                  <a:cubicBezTo>
                    <a:pt x="20065" y="2095970"/>
                    <a:pt x="13119" y="2093093"/>
                    <a:pt x="7998" y="2087972"/>
                  </a:cubicBezTo>
                  <a:cubicBezTo>
                    <a:pt x="2877" y="2082851"/>
                    <a:pt x="0" y="2075905"/>
                    <a:pt x="0" y="2068663"/>
                  </a:cubicBezTo>
                  <a:lnTo>
                    <a:pt x="0" y="27307"/>
                  </a:lnTo>
                  <a:cubicBezTo>
                    <a:pt x="0" y="20065"/>
                    <a:pt x="2877" y="13119"/>
                    <a:pt x="7998" y="7998"/>
                  </a:cubicBezTo>
                  <a:cubicBezTo>
                    <a:pt x="13119" y="2877"/>
                    <a:pt x="20065" y="0"/>
                    <a:pt x="273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733461" cy="2115020"/>
            </a:xfrm>
            <a:prstGeom prst="rect">
              <a:avLst/>
            </a:prstGeom>
          </p:spPr>
          <p:txBody>
            <a:bodyPr lIns="215900" tIns="215900" rIns="215900" bIns="21590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Datasets Used (Real Social Networks):</a:t>
              </a:r>
            </a:p>
            <a:p>
              <a:pPr marL="539749" lvl="1" indent="-269875" algn="l">
                <a:lnSpc>
                  <a:spcPts val="3124"/>
                </a:lnSpc>
                <a:buAutoNum type="arabicPeriod"/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Facebook Social Circles — 4,039 nodes, 88,234 edges</a:t>
              </a:r>
            </a:p>
            <a:p>
              <a:pPr marL="539749" lvl="1" indent="-269875" algn="l">
                <a:lnSpc>
                  <a:spcPts val="3124"/>
                </a:lnSpc>
                <a:buAutoNum type="arabicPeriod"/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Facebook Public Figures — 11,565 nodes, 67,000 edges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Why these?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They represent real-world social connections where ideas or products spread naturally.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Product Strength Setup:</a:t>
              </a: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➡️ Product 1 starts dominant.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➡️ Product 2 starts almost extinct.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273385" y="5720924"/>
          <a:ext cx="9655401" cy="2895600"/>
        </p:xfrm>
        <a:graphic>
          <a:graphicData uri="http://schemas.openxmlformats.org/drawingml/2006/table">
            <a:tbl>
              <a:tblPr/>
              <a:tblGrid>
                <a:gridCol w="2862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Product 1 (Strong)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Product 2 (Weak)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Facebook (4k)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τ₁ = 0.8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τ₂ = 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Facebook (12k)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τ₁ = 0.4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τ₂ = 0.03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5906572" y="608399"/>
            <a:ext cx="6389027" cy="12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Simulation Setup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46324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679865" y="3335953"/>
            <a:ext cx="10842440" cy="5196000"/>
            <a:chOff x="0" y="0"/>
            <a:chExt cx="2855622" cy="1368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55622" cy="1368494"/>
            </a:xfrm>
            <a:custGeom>
              <a:avLst/>
              <a:gdLst/>
              <a:ahLst/>
              <a:cxnLst/>
              <a:rect l="l" t="t" r="r" b="b"/>
              <a:pathLst>
                <a:path w="2855622" h="1368494">
                  <a:moveTo>
                    <a:pt x="35702" y="0"/>
                  </a:moveTo>
                  <a:lnTo>
                    <a:pt x="2819920" y="0"/>
                  </a:lnTo>
                  <a:cubicBezTo>
                    <a:pt x="2829389" y="0"/>
                    <a:pt x="2838470" y="3761"/>
                    <a:pt x="2845165" y="10457"/>
                  </a:cubicBezTo>
                  <a:cubicBezTo>
                    <a:pt x="2851861" y="17152"/>
                    <a:pt x="2855622" y="26233"/>
                    <a:pt x="2855622" y="35702"/>
                  </a:cubicBezTo>
                  <a:lnTo>
                    <a:pt x="2855622" y="1332792"/>
                  </a:lnTo>
                  <a:cubicBezTo>
                    <a:pt x="2855622" y="1352510"/>
                    <a:pt x="2839638" y="1368494"/>
                    <a:pt x="2819920" y="1368494"/>
                  </a:cubicBezTo>
                  <a:lnTo>
                    <a:pt x="35702" y="1368494"/>
                  </a:lnTo>
                  <a:cubicBezTo>
                    <a:pt x="15984" y="1368494"/>
                    <a:pt x="0" y="1352510"/>
                    <a:pt x="0" y="1332792"/>
                  </a:cubicBezTo>
                  <a:lnTo>
                    <a:pt x="0" y="35702"/>
                  </a:lnTo>
                  <a:cubicBezTo>
                    <a:pt x="0" y="15984"/>
                    <a:pt x="15984" y="0"/>
                    <a:pt x="357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855622" cy="1378019"/>
            </a:xfrm>
            <a:prstGeom prst="rect">
              <a:avLst/>
            </a:prstGeom>
          </p:spPr>
          <p:txBody>
            <a:bodyPr lIns="215900" tIns="215900" rIns="215900" bIns="21590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Budget Scenarios: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💵 Homogeneous Cost: Each user costs the same (wᵢ = 1).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💸 Heterogeneous Cost: Each user’s cost varies randomly.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Goal:</a:t>
              </a: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 Use the entire budget (C) efficiently to recruit users.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Market Share Metrics: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AvgY (𝑦̄): Product 2’s share (new product)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AvgX (𝑥̄): Product 1’s share (existing product)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TT Fors"/>
                  <a:ea typeface="TT Fors"/>
                  <a:cs typeface="TT Fors"/>
                  <a:sym typeface="TT Fors"/>
                </a:rPr>
                <a:t>Simulated for 1000 time steps to see steady-state behavior.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70498" y="1522123"/>
            <a:ext cx="11947004" cy="12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Budget &amp; Market Share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3618">
            <a:off x="15615608" y="-1364650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013343" y="2062331"/>
            <a:ext cx="14175484" cy="7958137"/>
            <a:chOff x="0" y="0"/>
            <a:chExt cx="3733461" cy="20959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33461" cy="2095970"/>
            </a:xfrm>
            <a:custGeom>
              <a:avLst/>
              <a:gdLst/>
              <a:ahLst/>
              <a:cxnLst/>
              <a:rect l="l" t="t" r="r" b="b"/>
              <a:pathLst>
                <a:path w="3733461" h="2095970">
                  <a:moveTo>
                    <a:pt x="27307" y="0"/>
                  </a:moveTo>
                  <a:lnTo>
                    <a:pt x="3706154" y="0"/>
                  </a:lnTo>
                  <a:cubicBezTo>
                    <a:pt x="3713396" y="0"/>
                    <a:pt x="3720342" y="2877"/>
                    <a:pt x="3725463" y="7998"/>
                  </a:cubicBezTo>
                  <a:cubicBezTo>
                    <a:pt x="3730584" y="13119"/>
                    <a:pt x="3733461" y="20065"/>
                    <a:pt x="3733461" y="27307"/>
                  </a:cubicBezTo>
                  <a:lnTo>
                    <a:pt x="3733461" y="2068663"/>
                  </a:lnTo>
                  <a:cubicBezTo>
                    <a:pt x="3733461" y="2083744"/>
                    <a:pt x="3721235" y="2095970"/>
                    <a:pt x="3706154" y="2095970"/>
                  </a:cubicBezTo>
                  <a:lnTo>
                    <a:pt x="27307" y="2095970"/>
                  </a:lnTo>
                  <a:cubicBezTo>
                    <a:pt x="20065" y="2095970"/>
                    <a:pt x="13119" y="2093093"/>
                    <a:pt x="7998" y="2087972"/>
                  </a:cubicBezTo>
                  <a:cubicBezTo>
                    <a:pt x="2877" y="2082851"/>
                    <a:pt x="0" y="2075905"/>
                    <a:pt x="0" y="2068663"/>
                  </a:cubicBezTo>
                  <a:lnTo>
                    <a:pt x="0" y="27307"/>
                  </a:lnTo>
                  <a:cubicBezTo>
                    <a:pt x="0" y="20065"/>
                    <a:pt x="2877" y="13119"/>
                    <a:pt x="7998" y="7998"/>
                  </a:cubicBezTo>
                  <a:cubicBezTo>
                    <a:pt x="13119" y="2877"/>
                    <a:pt x="20065" y="0"/>
                    <a:pt x="273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733461" cy="2115020"/>
            </a:xfrm>
            <a:prstGeom prst="rect">
              <a:avLst/>
            </a:prstGeom>
          </p:spPr>
          <p:txBody>
            <a:bodyPr lIns="215900" tIns="215900" rIns="215900" bIns="21590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What Algorithm 1 is competing against:</a:t>
              </a: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endPara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Why these?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They’re the standard influencer-based strategies — logical but not always optimal.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Budget Allocation: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All methods use the same total budget C, but distribute costs differently based on node importance.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725440" y="3057525"/>
          <a:ext cx="12751292" cy="4286251"/>
        </p:xfrm>
        <a:graphic>
          <a:graphicData uri="http://schemas.openxmlformats.org/drawingml/2006/table">
            <a:tbl>
              <a:tblPr/>
              <a:tblGrid>
                <a:gridCol w="489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10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Concept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0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Degree Centrality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Target the most connected users (popular ones).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0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Eigenvector Centrality (EVC)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Target users connected to other important users.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31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NetShield Algorithm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Usually for immunization, adapted here for influence spread.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3724822" y="810465"/>
            <a:ext cx="10752526" cy="12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Competing Baseline Methods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5201266" y="323127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100000">
            <a:off x="-8174342" y="692694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6319" y="2167606"/>
            <a:ext cx="6530391" cy="5526343"/>
          </a:xfrm>
          <a:custGeom>
            <a:avLst/>
            <a:gdLst/>
            <a:ahLst/>
            <a:cxnLst/>
            <a:rect l="l" t="t" r="r" b="b"/>
            <a:pathLst>
              <a:path w="6530391" h="5526343">
                <a:moveTo>
                  <a:pt x="0" y="0"/>
                </a:moveTo>
                <a:lnTo>
                  <a:pt x="6530391" y="0"/>
                </a:lnTo>
                <a:lnTo>
                  <a:pt x="6530391" y="5526343"/>
                </a:lnTo>
                <a:lnTo>
                  <a:pt x="0" y="5526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66355" y="2167606"/>
            <a:ext cx="6698598" cy="5526343"/>
          </a:xfrm>
          <a:custGeom>
            <a:avLst/>
            <a:gdLst/>
            <a:ahLst/>
            <a:cxnLst/>
            <a:rect l="l" t="t" r="r" b="b"/>
            <a:pathLst>
              <a:path w="6698598" h="5526343">
                <a:moveTo>
                  <a:pt x="0" y="0"/>
                </a:moveTo>
                <a:lnTo>
                  <a:pt x="6698598" y="0"/>
                </a:lnTo>
                <a:lnTo>
                  <a:pt x="6698598" y="5526343"/>
                </a:lnTo>
                <a:lnTo>
                  <a:pt x="0" y="5526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44553" y="518965"/>
            <a:ext cx="6832211" cy="90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33"/>
              </a:lnSpc>
            </a:pPr>
            <a:r>
              <a:rPr lang="en-US" sz="5238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Figures: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7678" y="7904253"/>
            <a:ext cx="5347673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Figure4:</a:t>
            </a: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Facebook (≈4k nodes): Change in AvgY and AvgX for Homogeneously distributed cost and different values of ϵ.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1818" y="7904253"/>
            <a:ext cx="5347673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Figure5:</a:t>
            </a: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Facebook (≈4k nodes): Change in AvgY and AvgX for Heterogeneously distributed cost and different values of ϵ.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6855" y="650875"/>
            <a:ext cx="683221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Facebook Social Circles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5201266" y="323127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100000">
            <a:off x="-8174342" y="692694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4499" y="2167606"/>
            <a:ext cx="6875700" cy="5526343"/>
          </a:xfrm>
          <a:custGeom>
            <a:avLst/>
            <a:gdLst/>
            <a:ahLst/>
            <a:cxnLst/>
            <a:rect l="l" t="t" r="r" b="b"/>
            <a:pathLst>
              <a:path w="6875700" h="5526343">
                <a:moveTo>
                  <a:pt x="0" y="0"/>
                </a:moveTo>
                <a:lnTo>
                  <a:pt x="6875700" y="0"/>
                </a:lnTo>
                <a:lnTo>
                  <a:pt x="6875700" y="5526343"/>
                </a:lnTo>
                <a:lnTo>
                  <a:pt x="0" y="5526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4444" y="2167606"/>
            <a:ext cx="7062420" cy="5526343"/>
          </a:xfrm>
          <a:custGeom>
            <a:avLst/>
            <a:gdLst/>
            <a:ahLst/>
            <a:cxnLst/>
            <a:rect l="l" t="t" r="r" b="b"/>
            <a:pathLst>
              <a:path w="7062420" h="5526343">
                <a:moveTo>
                  <a:pt x="0" y="0"/>
                </a:moveTo>
                <a:lnTo>
                  <a:pt x="7062420" y="0"/>
                </a:lnTo>
                <a:lnTo>
                  <a:pt x="7062420" y="5526343"/>
                </a:lnTo>
                <a:lnTo>
                  <a:pt x="0" y="5526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57678" y="7904253"/>
            <a:ext cx="5347673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Figure6:</a:t>
            </a: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Facebook (≈12k nodes): Change in AvgY and AvgX for Homogeneously distributed cost and different values of ϵ.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41818" y="7904253"/>
            <a:ext cx="5347673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Figure7: </a:t>
            </a:r>
            <a:r>
              <a:rPr lang="en-US" sz="20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Facebook (≈12k nodes): Change in AvgY and AvgX for Heterogeneously distributed cost and different values of ϵ.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44553" y="518965"/>
            <a:ext cx="6832211" cy="90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33"/>
              </a:lnSpc>
            </a:pPr>
            <a:r>
              <a:rPr lang="en-US" sz="5238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Figures: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6855" y="650875"/>
            <a:ext cx="694507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Facebook Public Figures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19701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013343" y="2669344"/>
            <a:ext cx="12428263" cy="5614987"/>
            <a:chOff x="0" y="0"/>
            <a:chExt cx="3273287" cy="14788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73287" cy="1478844"/>
            </a:xfrm>
            <a:custGeom>
              <a:avLst/>
              <a:gdLst/>
              <a:ahLst/>
              <a:cxnLst/>
              <a:rect l="l" t="t" r="r" b="b"/>
              <a:pathLst>
                <a:path w="3273287" h="1478844">
                  <a:moveTo>
                    <a:pt x="31146" y="0"/>
                  </a:moveTo>
                  <a:lnTo>
                    <a:pt x="3242141" y="0"/>
                  </a:lnTo>
                  <a:cubicBezTo>
                    <a:pt x="3250402" y="0"/>
                    <a:pt x="3258324" y="3281"/>
                    <a:pt x="3264165" y="9123"/>
                  </a:cubicBezTo>
                  <a:cubicBezTo>
                    <a:pt x="3270006" y="14964"/>
                    <a:pt x="3273287" y="22886"/>
                    <a:pt x="3273287" y="31146"/>
                  </a:cubicBezTo>
                  <a:lnTo>
                    <a:pt x="3273287" y="1447698"/>
                  </a:lnTo>
                  <a:cubicBezTo>
                    <a:pt x="3273287" y="1455959"/>
                    <a:pt x="3270006" y="1463881"/>
                    <a:pt x="3264165" y="1469722"/>
                  </a:cubicBezTo>
                  <a:cubicBezTo>
                    <a:pt x="3258324" y="1475563"/>
                    <a:pt x="3250402" y="1478844"/>
                    <a:pt x="3242141" y="1478844"/>
                  </a:cubicBezTo>
                  <a:lnTo>
                    <a:pt x="31146" y="1478844"/>
                  </a:lnTo>
                  <a:cubicBezTo>
                    <a:pt x="13945" y="1478844"/>
                    <a:pt x="0" y="1464900"/>
                    <a:pt x="0" y="1447698"/>
                  </a:cubicBezTo>
                  <a:lnTo>
                    <a:pt x="0" y="31146"/>
                  </a:lnTo>
                  <a:cubicBezTo>
                    <a:pt x="0" y="13945"/>
                    <a:pt x="13945" y="0"/>
                    <a:pt x="311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273287" cy="1497894"/>
            </a:xfrm>
            <a:prstGeom prst="rect">
              <a:avLst/>
            </a:prstGeom>
          </p:spPr>
          <p:txBody>
            <a:bodyPr lIns="215900" tIns="215900" rIns="215900" bIns="21590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What is ε?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A small tweak size that controls how much we can adjust user participation (uᵢ).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Observation (from Figures 4–7):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✅ As ε increases, Product 2’s market share (AvgY) rises.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❌ Meanwhile, Product 1’s share (AvgX) drops.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Why it matters: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Larger ε → more flexible targeting → stronger Product 2 presence.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Key Insight: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Allowing slightly bigger adjustments helps Product 2 reach more users faster.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405763" y="810465"/>
            <a:ext cx="3390644" cy="12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 1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5201266" y="323127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100000">
            <a:off x="-8174342" y="6926946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3424" y="1961958"/>
            <a:ext cx="8454127" cy="6890114"/>
          </a:xfrm>
          <a:custGeom>
            <a:avLst/>
            <a:gdLst/>
            <a:ahLst/>
            <a:cxnLst/>
            <a:rect l="l" t="t" r="r" b="b"/>
            <a:pathLst>
              <a:path w="8454127" h="6890114">
                <a:moveTo>
                  <a:pt x="0" y="0"/>
                </a:moveTo>
                <a:lnTo>
                  <a:pt x="8454128" y="0"/>
                </a:lnTo>
                <a:lnTo>
                  <a:pt x="8454128" y="6890114"/>
                </a:lnTo>
                <a:lnTo>
                  <a:pt x="0" y="689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765049" y="4224328"/>
            <a:ext cx="5347673" cy="273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sz="2499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 Figure8:</a:t>
            </a:r>
            <a:r>
              <a: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Facebook (≈4k nodes): Change in AvgY for Homogeneously &amp; Heterogeneously distributed cost against Degree-based, Eigenvector-based centrality measure, &amp; NetShield Algorithm.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4553" y="518965"/>
            <a:ext cx="6832211" cy="90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33"/>
              </a:lnSpc>
            </a:pPr>
            <a:r>
              <a:rPr lang="en-US" sz="5238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Figure: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51263" y="650875"/>
            <a:ext cx="683221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3F6FA"/>
                </a:solidFill>
                <a:latin typeface="Bernoru"/>
                <a:ea typeface="Bernoru"/>
                <a:cs typeface="Bernoru"/>
                <a:sym typeface="Bernoru"/>
              </a:rPr>
              <a:t>Baseline Comparisons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1559" y="-1364650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44807" y="-6176527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6" y="0"/>
                </a:lnTo>
                <a:lnTo>
                  <a:pt x="4598386" y="6853961"/>
                </a:lnTo>
                <a:lnTo>
                  <a:pt x="0" y="6853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2458241"/>
            <a:ext cx="14529045" cy="7388191"/>
            <a:chOff x="0" y="0"/>
            <a:chExt cx="3826580" cy="19458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26580" cy="1945861"/>
            </a:xfrm>
            <a:custGeom>
              <a:avLst/>
              <a:gdLst/>
              <a:ahLst/>
              <a:cxnLst/>
              <a:rect l="l" t="t" r="r" b="b"/>
              <a:pathLst>
                <a:path w="3826580" h="1945861">
                  <a:moveTo>
                    <a:pt x="26643" y="0"/>
                  </a:moveTo>
                  <a:lnTo>
                    <a:pt x="3799937" y="0"/>
                  </a:lnTo>
                  <a:cubicBezTo>
                    <a:pt x="3814652" y="0"/>
                    <a:pt x="3826580" y="11928"/>
                    <a:pt x="3826580" y="26643"/>
                  </a:cubicBezTo>
                  <a:lnTo>
                    <a:pt x="3826580" y="1919218"/>
                  </a:lnTo>
                  <a:cubicBezTo>
                    <a:pt x="3826580" y="1933933"/>
                    <a:pt x="3814652" y="1945861"/>
                    <a:pt x="3799937" y="1945861"/>
                  </a:cubicBezTo>
                  <a:lnTo>
                    <a:pt x="26643" y="1945861"/>
                  </a:lnTo>
                  <a:cubicBezTo>
                    <a:pt x="11928" y="1945861"/>
                    <a:pt x="0" y="1933933"/>
                    <a:pt x="0" y="1919218"/>
                  </a:cubicBezTo>
                  <a:lnTo>
                    <a:pt x="0" y="26643"/>
                  </a:lnTo>
                  <a:cubicBezTo>
                    <a:pt x="0" y="11928"/>
                    <a:pt x="11928" y="0"/>
                    <a:pt x="266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826580" cy="1964911"/>
            </a:xfrm>
            <a:prstGeom prst="rect">
              <a:avLst/>
            </a:prstGeom>
          </p:spPr>
          <p:txBody>
            <a:bodyPr lIns="215900" tIns="215900" rIns="215900" bIns="21590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The proposed algorithm outperforms all baselines across both cost settings.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Takeaway for Marketers: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 Don’t just spend on the most famous users!</a:t>
              </a:r>
            </a:p>
            <a:p>
              <a:pPr marL="539749" lvl="1" indent="-269875" algn="l">
                <a:lnSpc>
                  <a:spcPts val="3124"/>
                </a:lnSpc>
                <a:buFont typeface="Arial"/>
                <a:buChar char="•"/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 Smart, community-based targeting = better market share and survival.</a:t>
              </a:r>
            </a:p>
            <a:p>
              <a:pPr algn="l">
                <a:lnSpc>
                  <a:spcPts val="3124"/>
                </a:lnSpc>
              </a:pPr>
              <a:endParaRPr lang="en-US" sz="24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endParaRPr>
            </a:p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F3F6FA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Final Insight:</a:t>
              </a:r>
            </a:p>
            <a:p>
              <a:pPr algn="l">
                <a:lnSpc>
                  <a:spcPts val="3124"/>
                </a:lnSpc>
              </a:pPr>
              <a:r>
                <a:rPr lang="en-US" sz="2499">
                  <a:solidFill>
                    <a:srgbClr val="F3F6FA"/>
                  </a:solidFill>
                  <a:latin typeface="Literata"/>
                  <a:ea typeface="Literata"/>
                  <a:cs typeface="Literata"/>
                  <a:sym typeface="Literata"/>
                </a:rPr>
                <a:t>“Influence ≠ Effectiveness. The right users, not just popular ones, decide success.”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448678" y="1029859"/>
            <a:ext cx="3390644" cy="12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 2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666571" y="3476625"/>
          <a:ext cx="11253304" cy="3333751"/>
        </p:xfrm>
        <a:graphic>
          <a:graphicData uri="http://schemas.openxmlformats.org/drawingml/2006/table">
            <a:tbl>
              <a:tblPr/>
              <a:tblGrid>
                <a:gridCol w="3792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351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Cost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Literata Bold"/>
                          <a:ea typeface="Literata Bold"/>
                          <a:cs typeface="Literata Bold"/>
                          <a:sym typeface="Literata Bold"/>
                        </a:rPr>
                        <a:t>Outcome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72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Homogeneous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Our algorithm gets higher AvgY than all others.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51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Heterogeneous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Literata"/>
                          <a:ea typeface="Literata"/>
                          <a:cs typeface="Literata"/>
                          <a:sym typeface="Literata"/>
                        </a:rPr>
                        <a:t>Still wins — consistent across random costs.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65183" y="-103024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66879" y="1749188"/>
            <a:ext cx="7509112" cy="750911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581616" y="2244102"/>
            <a:ext cx="6677684" cy="667768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5800" r="-106421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141097" y="8957310"/>
            <a:ext cx="3321592" cy="4950883"/>
          </a:xfrm>
          <a:custGeom>
            <a:avLst/>
            <a:gdLst/>
            <a:ahLst/>
            <a:cxnLst/>
            <a:rect l="l" t="t" r="r" b="b"/>
            <a:pathLst>
              <a:path w="3321592" h="4950883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7127" y="2062331"/>
            <a:ext cx="7725562" cy="6204526"/>
            <a:chOff x="0" y="0"/>
            <a:chExt cx="2034716" cy="16341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4716" cy="1634114"/>
            </a:xfrm>
            <a:custGeom>
              <a:avLst/>
              <a:gdLst/>
              <a:ahLst/>
              <a:cxnLst/>
              <a:rect l="l" t="t" r="r" b="b"/>
              <a:pathLst>
                <a:path w="2034716" h="1634114">
                  <a:moveTo>
                    <a:pt x="50106" y="0"/>
                  </a:moveTo>
                  <a:lnTo>
                    <a:pt x="1984610" y="0"/>
                  </a:lnTo>
                  <a:cubicBezTo>
                    <a:pt x="2012283" y="0"/>
                    <a:pt x="2034716" y="22433"/>
                    <a:pt x="2034716" y="50106"/>
                  </a:cubicBezTo>
                  <a:lnTo>
                    <a:pt x="2034716" y="1584008"/>
                  </a:lnTo>
                  <a:cubicBezTo>
                    <a:pt x="2034716" y="1611681"/>
                    <a:pt x="2012283" y="1634114"/>
                    <a:pt x="1984610" y="1634114"/>
                  </a:cubicBezTo>
                  <a:lnTo>
                    <a:pt x="50106" y="1634114"/>
                  </a:lnTo>
                  <a:cubicBezTo>
                    <a:pt x="22433" y="1634114"/>
                    <a:pt x="0" y="1611681"/>
                    <a:pt x="0" y="1584008"/>
                  </a:cubicBezTo>
                  <a:lnTo>
                    <a:pt x="0" y="50106"/>
                  </a:lnTo>
                  <a:cubicBezTo>
                    <a:pt x="0" y="22433"/>
                    <a:pt x="22433" y="0"/>
                    <a:pt x="501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034716" cy="1634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5416" y="8447832"/>
            <a:ext cx="9399767" cy="1477099"/>
            <a:chOff x="0" y="0"/>
            <a:chExt cx="1934108" cy="3039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34108" cy="303930"/>
            </a:xfrm>
            <a:custGeom>
              <a:avLst/>
              <a:gdLst/>
              <a:ahLst/>
              <a:cxnLst/>
              <a:rect l="l" t="t" r="r" b="b"/>
              <a:pathLst>
                <a:path w="1934108" h="303930">
                  <a:moveTo>
                    <a:pt x="36034" y="0"/>
                  </a:moveTo>
                  <a:lnTo>
                    <a:pt x="1898075" y="0"/>
                  </a:lnTo>
                  <a:cubicBezTo>
                    <a:pt x="1907631" y="0"/>
                    <a:pt x="1916797" y="3796"/>
                    <a:pt x="1923554" y="10554"/>
                  </a:cubicBezTo>
                  <a:cubicBezTo>
                    <a:pt x="1930312" y="17312"/>
                    <a:pt x="1934108" y="26477"/>
                    <a:pt x="1934108" y="36034"/>
                  </a:cubicBezTo>
                  <a:lnTo>
                    <a:pt x="1934108" y="267896"/>
                  </a:lnTo>
                  <a:cubicBezTo>
                    <a:pt x="1934108" y="277453"/>
                    <a:pt x="1930312" y="286618"/>
                    <a:pt x="1923554" y="293376"/>
                  </a:cubicBezTo>
                  <a:cubicBezTo>
                    <a:pt x="1916797" y="300133"/>
                    <a:pt x="1907631" y="303930"/>
                    <a:pt x="1898075" y="303930"/>
                  </a:cubicBezTo>
                  <a:lnTo>
                    <a:pt x="36034" y="303930"/>
                  </a:lnTo>
                  <a:cubicBezTo>
                    <a:pt x="26477" y="303930"/>
                    <a:pt x="17312" y="300133"/>
                    <a:pt x="10554" y="293376"/>
                  </a:cubicBezTo>
                  <a:cubicBezTo>
                    <a:pt x="3796" y="286618"/>
                    <a:pt x="0" y="277453"/>
                    <a:pt x="0" y="267896"/>
                  </a:cubicBezTo>
                  <a:lnTo>
                    <a:pt x="0" y="36034"/>
                  </a:lnTo>
                  <a:cubicBezTo>
                    <a:pt x="0" y="26477"/>
                    <a:pt x="3796" y="17312"/>
                    <a:pt x="10554" y="10554"/>
                  </a:cubicBezTo>
                  <a:cubicBezTo>
                    <a:pt x="17312" y="3796"/>
                    <a:pt x="26477" y="0"/>
                    <a:pt x="36034" y="0"/>
                  </a:cubicBezTo>
                  <a:close/>
                </a:path>
              </a:pathLst>
            </a:custGeom>
            <a:solidFill>
              <a:srgbClr val="CBDDE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934108" cy="31345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Literata"/>
                  <a:ea typeface="Literata"/>
                  <a:cs typeface="Literata"/>
                  <a:sym typeface="Literata"/>
                </a:rPr>
                <a:t>“From paper to practice — turning theory into an interactive, reproducible system for strategic marketing in networks.”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33645" y="9477375"/>
            <a:ext cx="2395829" cy="759837"/>
            <a:chOff x="0" y="0"/>
            <a:chExt cx="862680" cy="2735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2680" cy="273599"/>
            </a:xfrm>
            <a:custGeom>
              <a:avLst/>
              <a:gdLst/>
              <a:ahLst/>
              <a:cxnLst/>
              <a:rect l="l" t="t" r="r" b="b"/>
              <a:pathLst>
                <a:path w="862680" h="273599">
                  <a:moveTo>
                    <a:pt x="136799" y="0"/>
                  </a:moveTo>
                  <a:lnTo>
                    <a:pt x="725880" y="0"/>
                  </a:lnTo>
                  <a:cubicBezTo>
                    <a:pt x="762162" y="0"/>
                    <a:pt x="796957" y="14413"/>
                    <a:pt x="822612" y="40068"/>
                  </a:cubicBezTo>
                  <a:cubicBezTo>
                    <a:pt x="848267" y="65722"/>
                    <a:pt x="862680" y="100518"/>
                    <a:pt x="862680" y="136799"/>
                  </a:cubicBezTo>
                  <a:lnTo>
                    <a:pt x="862680" y="136799"/>
                  </a:lnTo>
                  <a:cubicBezTo>
                    <a:pt x="862680" y="173081"/>
                    <a:pt x="848267" y="207876"/>
                    <a:pt x="822612" y="233531"/>
                  </a:cubicBezTo>
                  <a:cubicBezTo>
                    <a:pt x="796957" y="259186"/>
                    <a:pt x="762162" y="273599"/>
                    <a:pt x="725880" y="273599"/>
                  </a:cubicBezTo>
                  <a:lnTo>
                    <a:pt x="136799" y="273599"/>
                  </a:lnTo>
                  <a:cubicBezTo>
                    <a:pt x="100518" y="273599"/>
                    <a:pt x="65722" y="259186"/>
                    <a:pt x="40068" y="233531"/>
                  </a:cubicBezTo>
                  <a:cubicBezTo>
                    <a:pt x="14413" y="207876"/>
                    <a:pt x="0" y="173081"/>
                    <a:pt x="0" y="136799"/>
                  </a:cubicBezTo>
                  <a:lnTo>
                    <a:pt x="0" y="136799"/>
                  </a:lnTo>
                  <a:cubicBezTo>
                    <a:pt x="0" y="100518"/>
                    <a:pt x="14413" y="65722"/>
                    <a:pt x="40068" y="40068"/>
                  </a:cubicBezTo>
                  <a:cubicBezTo>
                    <a:pt x="65722" y="14413"/>
                    <a:pt x="100518" y="0"/>
                    <a:pt x="136799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62680" cy="28312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069144" y="9573672"/>
            <a:ext cx="567243" cy="567243"/>
          </a:xfrm>
          <a:custGeom>
            <a:avLst/>
            <a:gdLst/>
            <a:ahLst/>
            <a:cxnLst/>
            <a:rect l="l" t="t" r="r" b="b"/>
            <a:pathLst>
              <a:path w="567243" h="567243">
                <a:moveTo>
                  <a:pt x="0" y="0"/>
                </a:moveTo>
                <a:lnTo>
                  <a:pt x="567244" y="0"/>
                </a:lnTo>
                <a:lnTo>
                  <a:pt x="567244" y="567243"/>
                </a:lnTo>
                <a:lnTo>
                  <a:pt x="0" y="567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36553" y="388303"/>
            <a:ext cx="16147509" cy="113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Implementation Overview — “Keeping Up with the Winner”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3726" y="2329827"/>
            <a:ext cx="6872364" cy="70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5199" b="1" spc="-103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Key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3726" y="3164632"/>
            <a:ext cx="6872364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Implements bi-SIS dynamics for two competing products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Algorithm 1: Local perturbation search for optimal targeting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Baseline comparisons: Degree, Eigenvector, and NetShield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Multiple cost schemes: Homogeneous, degree-based, eigenvector-based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Budget &amp; Epsilon sweeps: Market share vs. budget analysis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Interactive Streamlit Dashboard for real-time visualization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Reproducible experiments matching figures from the original paper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91777" y="9650918"/>
            <a:ext cx="1062276" cy="37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sz="2499" u="sng" dirty="0" err="1">
                <a:latin typeface="Literata"/>
                <a:ea typeface="Literata"/>
                <a:cs typeface="Literata"/>
                <a:sym typeface="Literata"/>
                <a:hlinkClick r:id="rId8" tooltip="https://github.com/lakshaykun/Keeping-Up-with-the-Winn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2499" u="sng" dirty="0">
              <a:latin typeface="Literata"/>
              <a:ea typeface="Literata"/>
              <a:cs typeface="Literata"/>
              <a:sym typeface="Literata"/>
              <a:hlinkClick r:id="rId8" tooltip="https://github.com/lakshaykun/Keeping-Up-with-the-Winner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750" y="1549400"/>
            <a:ext cx="17002499" cy="829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Our Goal: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Develop an algorithm to find the optimal set of users (µ, u) who, when targeted under a given budget, help a new/weaker product (Product 2) gain a positive market share against a dominant product.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3F6FA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How We Did It: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Introduced a perturbation-based approach to identify users who can be effectively influenced.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Tested on real-world Facebook network datasets.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Compared with standard methods: Degree Centrality, Eigenvector Centrality, and NetShield Algorithm.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3F6FA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Our approach outperforms all baselines, regardless of whether the budget is distributed uniformly or randomly.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Demonstrated that targeting niche, well-connected communities is more effective than focusing on popular influencers.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Validated using the bi-SIS epidemic model and extensive simulations, proving consistent performance improvement.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3F6FA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Key Takeaway: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Smart, data-driven community targeting ensures the survival and growth of new products — even in competitive markets.</a:t>
            </a:r>
          </a:p>
        </p:txBody>
      </p:sp>
      <p:sp>
        <p:nvSpPr>
          <p:cNvPr id="3" name="Freeform 3"/>
          <p:cNvSpPr/>
          <p:nvPr/>
        </p:nvSpPr>
        <p:spPr>
          <a:xfrm rot="-1578356">
            <a:off x="16152154" y="-6411317"/>
            <a:ext cx="8920669" cy="13296389"/>
          </a:xfrm>
          <a:custGeom>
            <a:avLst/>
            <a:gdLst/>
            <a:ahLst/>
            <a:cxnLst/>
            <a:rect l="l" t="t" r="r" b="b"/>
            <a:pathLst>
              <a:path w="8920669" h="13296389">
                <a:moveTo>
                  <a:pt x="0" y="0"/>
                </a:moveTo>
                <a:lnTo>
                  <a:pt x="8920668" y="0"/>
                </a:lnTo>
                <a:lnTo>
                  <a:pt x="8920668" y="13296389"/>
                </a:lnTo>
                <a:lnTo>
                  <a:pt x="0" y="132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100000">
            <a:off x="-5267414" y="-6354499"/>
            <a:ext cx="7425739" cy="11068175"/>
          </a:xfrm>
          <a:custGeom>
            <a:avLst/>
            <a:gdLst/>
            <a:ahLst/>
            <a:cxnLst/>
            <a:rect l="l" t="t" r="r" b="b"/>
            <a:pathLst>
              <a:path w="7425739" h="11068175">
                <a:moveTo>
                  <a:pt x="0" y="0"/>
                </a:moveTo>
                <a:lnTo>
                  <a:pt x="7425740" y="0"/>
                </a:lnTo>
                <a:lnTo>
                  <a:pt x="7425740" y="11068175"/>
                </a:lnTo>
                <a:lnTo>
                  <a:pt x="0" y="11068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3980" y="472059"/>
            <a:ext cx="4748813" cy="128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 b="1" spc="-192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24898">
            <a:off x="14766915" y="-10124471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8"/>
                </a:lnTo>
                <a:lnTo>
                  <a:pt x="0" y="1674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4990" y="2195920"/>
            <a:ext cx="7725562" cy="5947057"/>
            <a:chOff x="0" y="0"/>
            <a:chExt cx="2034716" cy="15663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34716" cy="1566303"/>
            </a:xfrm>
            <a:custGeom>
              <a:avLst/>
              <a:gdLst/>
              <a:ahLst/>
              <a:cxnLst/>
              <a:rect l="l" t="t" r="r" b="b"/>
              <a:pathLst>
                <a:path w="2034716" h="1566303">
                  <a:moveTo>
                    <a:pt x="50106" y="0"/>
                  </a:moveTo>
                  <a:lnTo>
                    <a:pt x="1984610" y="0"/>
                  </a:lnTo>
                  <a:cubicBezTo>
                    <a:pt x="2012283" y="0"/>
                    <a:pt x="2034716" y="22433"/>
                    <a:pt x="2034716" y="50106"/>
                  </a:cubicBezTo>
                  <a:lnTo>
                    <a:pt x="2034716" y="1516197"/>
                  </a:lnTo>
                  <a:cubicBezTo>
                    <a:pt x="2034716" y="1543870"/>
                    <a:pt x="2012283" y="1566303"/>
                    <a:pt x="1984610" y="1566303"/>
                  </a:cubicBezTo>
                  <a:lnTo>
                    <a:pt x="50106" y="1566303"/>
                  </a:lnTo>
                  <a:cubicBezTo>
                    <a:pt x="22433" y="1566303"/>
                    <a:pt x="0" y="1543870"/>
                    <a:pt x="0" y="1516197"/>
                  </a:cubicBezTo>
                  <a:lnTo>
                    <a:pt x="0" y="50106"/>
                  </a:lnTo>
                  <a:cubicBezTo>
                    <a:pt x="0" y="22433"/>
                    <a:pt x="22433" y="0"/>
                    <a:pt x="501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034716" cy="1566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8480552" y="5169449"/>
            <a:ext cx="1219838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998761" y="2897630"/>
            <a:ext cx="6872364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Managerial Relevance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8761" y="3813554"/>
            <a:ext cx="6872364" cy="39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Provides brand managers with a data-driven framework for budget-efficient marketing.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Helps in targeting niche communities rather than expensive, popular influencers.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Aligns with real-world marketing on platforms like Instagram and Facebook, where brands reach audiences through micro-influencers.</a:t>
            </a:r>
          </a:p>
        </p:txBody>
      </p:sp>
      <p:sp>
        <p:nvSpPr>
          <p:cNvPr id="9" name="Freeform 9"/>
          <p:cNvSpPr/>
          <p:nvPr/>
        </p:nvSpPr>
        <p:spPr>
          <a:xfrm rot="-8100000">
            <a:off x="-8209867" y="-10291124"/>
            <a:ext cx="11236062" cy="16747518"/>
          </a:xfrm>
          <a:custGeom>
            <a:avLst/>
            <a:gdLst/>
            <a:ahLst/>
            <a:cxnLst/>
            <a:rect l="l" t="t" r="r" b="b"/>
            <a:pathLst>
              <a:path w="11236062" h="16747518">
                <a:moveTo>
                  <a:pt x="0" y="0"/>
                </a:moveTo>
                <a:lnTo>
                  <a:pt x="11236063" y="0"/>
                </a:lnTo>
                <a:lnTo>
                  <a:pt x="11236063" y="16747519"/>
                </a:lnTo>
                <a:lnTo>
                  <a:pt x="0" y="1674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700390" y="2195920"/>
            <a:ext cx="7725562" cy="5947057"/>
            <a:chOff x="0" y="0"/>
            <a:chExt cx="2034716" cy="1566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4716" cy="1566303"/>
            </a:xfrm>
            <a:custGeom>
              <a:avLst/>
              <a:gdLst/>
              <a:ahLst/>
              <a:cxnLst/>
              <a:rect l="l" t="t" r="r" b="b"/>
              <a:pathLst>
                <a:path w="2034716" h="1566303">
                  <a:moveTo>
                    <a:pt x="50106" y="0"/>
                  </a:moveTo>
                  <a:lnTo>
                    <a:pt x="1984610" y="0"/>
                  </a:lnTo>
                  <a:cubicBezTo>
                    <a:pt x="2012283" y="0"/>
                    <a:pt x="2034716" y="22433"/>
                    <a:pt x="2034716" y="50106"/>
                  </a:cubicBezTo>
                  <a:lnTo>
                    <a:pt x="2034716" y="1516197"/>
                  </a:lnTo>
                  <a:cubicBezTo>
                    <a:pt x="2034716" y="1543870"/>
                    <a:pt x="2012283" y="1566303"/>
                    <a:pt x="1984610" y="1566303"/>
                  </a:cubicBezTo>
                  <a:lnTo>
                    <a:pt x="50106" y="1566303"/>
                  </a:lnTo>
                  <a:cubicBezTo>
                    <a:pt x="22433" y="1566303"/>
                    <a:pt x="0" y="1543870"/>
                    <a:pt x="0" y="1516197"/>
                  </a:cubicBezTo>
                  <a:lnTo>
                    <a:pt x="0" y="50106"/>
                  </a:lnTo>
                  <a:cubicBezTo>
                    <a:pt x="0" y="22433"/>
                    <a:pt x="22433" y="0"/>
                    <a:pt x="501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034716" cy="1566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163404" y="8323953"/>
            <a:ext cx="9399767" cy="1573661"/>
            <a:chOff x="0" y="0"/>
            <a:chExt cx="1934108" cy="3237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34108" cy="323799"/>
            </a:xfrm>
            <a:custGeom>
              <a:avLst/>
              <a:gdLst/>
              <a:ahLst/>
              <a:cxnLst/>
              <a:rect l="l" t="t" r="r" b="b"/>
              <a:pathLst>
                <a:path w="1934108" h="323799">
                  <a:moveTo>
                    <a:pt x="36034" y="0"/>
                  </a:moveTo>
                  <a:lnTo>
                    <a:pt x="1898075" y="0"/>
                  </a:lnTo>
                  <a:cubicBezTo>
                    <a:pt x="1907631" y="0"/>
                    <a:pt x="1916797" y="3796"/>
                    <a:pt x="1923554" y="10554"/>
                  </a:cubicBezTo>
                  <a:cubicBezTo>
                    <a:pt x="1930312" y="17312"/>
                    <a:pt x="1934108" y="26477"/>
                    <a:pt x="1934108" y="36034"/>
                  </a:cubicBezTo>
                  <a:lnTo>
                    <a:pt x="1934108" y="287765"/>
                  </a:lnTo>
                  <a:cubicBezTo>
                    <a:pt x="1934108" y="297322"/>
                    <a:pt x="1930312" y="306487"/>
                    <a:pt x="1923554" y="313245"/>
                  </a:cubicBezTo>
                  <a:cubicBezTo>
                    <a:pt x="1916797" y="320002"/>
                    <a:pt x="1907631" y="323799"/>
                    <a:pt x="1898075" y="323799"/>
                  </a:cubicBezTo>
                  <a:lnTo>
                    <a:pt x="36034" y="323799"/>
                  </a:lnTo>
                  <a:cubicBezTo>
                    <a:pt x="26477" y="323799"/>
                    <a:pt x="17312" y="320002"/>
                    <a:pt x="10554" y="313245"/>
                  </a:cubicBezTo>
                  <a:cubicBezTo>
                    <a:pt x="3796" y="306487"/>
                    <a:pt x="0" y="297322"/>
                    <a:pt x="0" y="287765"/>
                  </a:cubicBezTo>
                  <a:lnTo>
                    <a:pt x="0" y="36034"/>
                  </a:lnTo>
                  <a:cubicBezTo>
                    <a:pt x="0" y="26477"/>
                    <a:pt x="3796" y="17312"/>
                    <a:pt x="10554" y="10554"/>
                  </a:cubicBezTo>
                  <a:cubicBezTo>
                    <a:pt x="17312" y="3796"/>
                    <a:pt x="26477" y="0"/>
                    <a:pt x="36034" y="0"/>
                  </a:cubicBezTo>
                  <a:close/>
                </a:path>
              </a:pathLst>
            </a:custGeom>
            <a:solidFill>
              <a:srgbClr val="CBDDE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934108" cy="33332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269"/>
                </a:lnSpc>
              </a:pPr>
              <a:r>
                <a:rPr lang="en-US" sz="2615">
                  <a:solidFill>
                    <a:srgbClr val="000000"/>
                  </a:solidFill>
                  <a:latin typeface="Literata"/>
                  <a:ea typeface="Literata"/>
                  <a:cs typeface="Literata"/>
                  <a:sym typeface="Literata"/>
                </a:rPr>
                <a:t>“Influence isn’t about fame — it’s about connecting with the right communities that keep your product alive.”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779920" y="346165"/>
            <a:ext cx="6728159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 b="1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Broader Impact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4161" y="2897630"/>
            <a:ext cx="6872364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7200" b="1" spc="-144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Practical Implications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44161" y="3813554"/>
            <a:ext cx="6872364" cy="347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Shows that spending smart (on the right users) is better than spending more.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 identified community-based targeting ensures a higher market share and better ROI.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Demonstrates that even with partial network knowledge, firms can still find and engage key users.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7011" y="4350112"/>
            <a:ext cx="9056018" cy="229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0"/>
              </a:lnSpc>
            </a:pPr>
            <a:r>
              <a:rPr lang="en-US" sz="16980" b="1" spc="-339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9665183" y="-1364650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16760" y="1028700"/>
            <a:ext cx="8229600" cy="82296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9057" y="1590998"/>
            <a:ext cx="7105005" cy="710500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5238" r="-45238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41097" y="8957310"/>
            <a:ext cx="3321592" cy="4950883"/>
          </a:xfrm>
          <a:custGeom>
            <a:avLst/>
            <a:gdLst/>
            <a:ahLst/>
            <a:cxnLst/>
            <a:rect l="l" t="t" r="r" b="b"/>
            <a:pathLst>
              <a:path w="3321592" h="4950883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65374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20771" y="4929868"/>
            <a:ext cx="9246638" cy="1610938"/>
          </a:xfrm>
          <a:custGeom>
            <a:avLst/>
            <a:gdLst/>
            <a:ahLst/>
            <a:cxnLst/>
            <a:rect l="l" t="t" r="r" b="b"/>
            <a:pathLst>
              <a:path w="9246638" h="1610938">
                <a:moveTo>
                  <a:pt x="0" y="0"/>
                </a:moveTo>
                <a:lnTo>
                  <a:pt x="9246638" y="0"/>
                </a:lnTo>
                <a:lnTo>
                  <a:pt x="9246638" y="1610937"/>
                </a:lnTo>
                <a:lnTo>
                  <a:pt x="0" y="1610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82579" y="7026805"/>
            <a:ext cx="8923023" cy="924814"/>
          </a:xfrm>
          <a:custGeom>
            <a:avLst/>
            <a:gdLst/>
            <a:ahLst/>
            <a:cxnLst/>
            <a:rect l="l" t="t" r="r" b="b"/>
            <a:pathLst>
              <a:path w="8923023" h="924814">
                <a:moveTo>
                  <a:pt x="0" y="0"/>
                </a:moveTo>
                <a:lnTo>
                  <a:pt x="8923023" y="0"/>
                </a:lnTo>
                <a:lnTo>
                  <a:pt x="8923023" y="924814"/>
                </a:lnTo>
                <a:lnTo>
                  <a:pt x="0" y="9248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518" b="-351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32734" y="8065695"/>
            <a:ext cx="4665544" cy="686542"/>
          </a:xfrm>
          <a:custGeom>
            <a:avLst/>
            <a:gdLst/>
            <a:ahLst/>
            <a:cxnLst/>
            <a:rect l="l" t="t" r="r" b="b"/>
            <a:pathLst>
              <a:path w="4665544" h="686542">
                <a:moveTo>
                  <a:pt x="0" y="0"/>
                </a:moveTo>
                <a:lnTo>
                  <a:pt x="4665544" y="0"/>
                </a:lnTo>
                <a:lnTo>
                  <a:pt x="4665544" y="686542"/>
                </a:lnTo>
                <a:lnTo>
                  <a:pt x="0" y="686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10211" r="-36584" b="-61366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877688" y="8065695"/>
            <a:ext cx="4979443" cy="686542"/>
          </a:xfrm>
          <a:custGeom>
            <a:avLst/>
            <a:gdLst/>
            <a:ahLst/>
            <a:cxnLst/>
            <a:rect l="l" t="t" r="r" b="b"/>
            <a:pathLst>
              <a:path w="4979443" h="686542">
                <a:moveTo>
                  <a:pt x="0" y="0"/>
                </a:moveTo>
                <a:lnTo>
                  <a:pt x="4979443" y="0"/>
                </a:lnTo>
                <a:lnTo>
                  <a:pt x="4979443" y="686542"/>
                </a:lnTo>
                <a:lnTo>
                  <a:pt x="0" y="686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09664" r="-10698" b="-402992"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5554314" y="8645480"/>
            <a:ext cx="1028326" cy="157053"/>
          </a:xfrm>
          <a:custGeom>
            <a:avLst/>
            <a:gdLst/>
            <a:ahLst/>
            <a:cxnLst/>
            <a:rect l="l" t="t" r="r" b="b"/>
            <a:pathLst>
              <a:path w="1028326" h="157053">
                <a:moveTo>
                  <a:pt x="0" y="0"/>
                </a:moveTo>
                <a:lnTo>
                  <a:pt x="1028326" y="0"/>
                </a:lnTo>
                <a:lnTo>
                  <a:pt x="1028326" y="157053"/>
                </a:lnTo>
                <a:lnTo>
                  <a:pt x="0" y="157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79546" y="8595184"/>
            <a:ext cx="2621660" cy="414699"/>
          </a:xfrm>
          <a:custGeom>
            <a:avLst/>
            <a:gdLst/>
            <a:ahLst/>
            <a:cxnLst/>
            <a:rect l="l" t="t" r="r" b="b"/>
            <a:pathLst>
              <a:path w="2621660" h="414699">
                <a:moveTo>
                  <a:pt x="0" y="0"/>
                </a:moveTo>
                <a:lnTo>
                  <a:pt x="2621660" y="0"/>
                </a:lnTo>
                <a:lnTo>
                  <a:pt x="2621660" y="414699"/>
                </a:lnTo>
                <a:lnTo>
                  <a:pt x="0" y="414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1930" y="1294581"/>
            <a:ext cx="10147128" cy="124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Bi-Sis equation derivation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1930" y="4093112"/>
            <a:ext cx="973855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There are two possibilities which changes this probability-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0645" y="4588924"/>
            <a:ext cx="624411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Infection / adoption from neighbors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2258" y="2650294"/>
            <a:ext cx="8343982" cy="115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State probabilities for node i at time t: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x_i(t) = prob. node i has product 1,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y_i(t) = prob. node i has product 2,</a:t>
            </a:r>
          </a:p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so the prob. node i is susceptible (neither product) is (1-x_i-y_i).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0645" y="6573004"/>
            <a:ext cx="624411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3F6FA"/>
                </a:solidFill>
                <a:latin typeface="Literata Bold"/>
                <a:ea typeface="Literata Bold"/>
                <a:cs typeface="Literata Bold"/>
                <a:sym typeface="Literata Bold"/>
              </a:rPr>
              <a:t>Recovery / disown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86132" y="9124183"/>
            <a:ext cx="3038117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Infection of i by the neighbour</a:t>
            </a:r>
          </a:p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having product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28351" y="8990833"/>
            <a:ext cx="108025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disown </a:t>
            </a:r>
          </a:p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1</a:t>
            </a:r>
          </a:p>
        </p:txBody>
      </p:sp>
      <p:sp>
        <p:nvSpPr>
          <p:cNvPr id="20" name="Freeform 20"/>
          <p:cNvSpPr/>
          <p:nvPr/>
        </p:nvSpPr>
        <p:spPr>
          <a:xfrm>
            <a:off x="9794052" y="8645480"/>
            <a:ext cx="3146714" cy="497753"/>
          </a:xfrm>
          <a:custGeom>
            <a:avLst/>
            <a:gdLst/>
            <a:ahLst/>
            <a:cxnLst/>
            <a:rect l="l" t="t" r="r" b="b"/>
            <a:pathLst>
              <a:path w="3146714" h="497753">
                <a:moveTo>
                  <a:pt x="0" y="0"/>
                </a:moveTo>
                <a:lnTo>
                  <a:pt x="3146714" y="0"/>
                </a:lnTo>
                <a:lnTo>
                  <a:pt x="3146714" y="497753"/>
                </a:lnTo>
                <a:lnTo>
                  <a:pt x="0" y="497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13088907" y="8737303"/>
            <a:ext cx="1028326" cy="157053"/>
          </a:xfrm>
          <a:custGeom>
            <a:avLst/>
            <a:gdLst/>
            <a:ahLst/>
            <a:cxnLst/>
            <a:rect l="l" t="t" r="r" b="b"/>
            <a:pathLst>
              <a:path w="1028326" h="157053">
                <a:moveTo>
                  <a:pt x="0" y="0"/>
                </a:moveTo>
                <a:lnTo>
                  <a:pt x="1028326" y="0"/>
                </a:lnTo>
                <a:lnTo>
                  <a:pt x="1028326" y="157053"/>
                </a:lnTo>
                <a:lnTo>
                  <a:pt x="0" y="157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794052" y="9397868"/>
            <a:ext cx="3038117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Infection of i by the neighbour</a:t>
            </a:r>
          </a:p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 having product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88907" y="9124183"/>
            <a:ext cx="108025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disown </a:t>
            </a:r>
          </a:p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</a:rPr>
              <a:t>product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20450" y="9210675"/>
            <a:ext cx="834398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3F6FA"/>
                </a:solidFill>
                <a:latin typeface="Alata"/>
                <a:ea typeface="Alata"/>
                <a:cs typeface="Alata"/>
                <a:sym typeface="Alata"/>
                <a:hlinkClick r:id="rId13" action="ppaction://hlinksldjump"/>
              </a:rPr>
              <a:t>Back to Slide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46324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38435" y="2669344"/>
            <a:ext cx="15403307" cy="5834961"/>
          </a:xfrm>
          <a:custGeom>
            <a:avLst/>
            <a:gdLst/>
            <a:ahLst/>
            <a:cxnLst/>
            <a:rect l="l" t="t" r="r" b="b"/>
            <a:pathLst>
              <a:path w="15403307" h="5834961">
                <a:moveTo>
                  <a:pt x="0" y="0"/>
                </a:moveTo>
                <a:lnTo>
                  <a:pt x="15403307" y="0"/>
                </a:lnTo>
                <a:lnTo>
                  <a:pt x="15403307" y="5834961"/>
                </a:lnTo>
                <a:lnTo>
                  <a:pt x="0" y="58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763644" y="8637655"/>
            <a:ext cx="6760713" cy="1128021"/>
            <a:chOff x="0" y="0"/>
            <a:chExt cx="1780599" cy="2970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0599" cy="297092"/>
            </a:xfrm>
            <a:custGeom>
              <a:avLst/>
              <a:gdLst/>
              <a:ahLst/>
              <a:cxnLst/>
              <a:rect l="l" t="t" r="r" b="b"/>
              <a:pathLst>
                <a:path w="1780599" h="297092">
                  <a:moveTo>
                    <a:pt x="57257" y="0"/>
                  </a:moveTo>
                  <a:lnTo>
                    <a:pt x="1723342" y="0"/>
                  </a:lnTo>
                  <a:cubicBezTo>
                    <a:pt x="1754965" y="0"/>
                    <a:pt x="1780599" y="25635"/>
                    <a:pt x="1780599" y="57257"/>
                  </a:cubicBezTo>
                  <a:lnTo>
                    <a:pt x="1780599" y="239835"/>
                  </a:lnTo>
                  <a:cubicBezTo>
                    <a:pt x="1780599" y="271457"/>
                    <a:pt x="1754965" y="297092"/>
                    <a:pt x="1723342" y="297092"/>
                  </a:cubicBezTo>
                  <a:lnTo>
                    <a:pt x="57257" y="297092"/>
                  </a:lnTo>
                  <a:cubicBezTo>
                    <a:pt x="25635" y="297092"/>
                    <a:pt x="0" y="271457"/>
                    <a:pt x="0" y="239835"/>
                  </a:cubicBezTo>
                  <a:lnTo>
                    <a:pt x="0" y="57257"/>
                  </a:lnTo>
                  <a:cubicBezTo>
                    <a:pt x="0" y="25635"/>
                    <a:pt x="25635" y="0"/>
                    <a:pt x="57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780599" cy="297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44451" y="9113905"/>
            <a:ext cx="3599098" cy="550549"/>
          </a:xfrm>
          <a:custGeom>
            <a:avLst/>
            <a:gdLst/>
            <a:ahLst/>
            <a:cxnLst/>
            <a:rect l="l" t="t" r="r" b="b"/>
            <a:pathLst>
              <a:path w="3599098" h="550549">
                <a:moveTo>
                  <a:pt x="0" y="0"/>
                </a:moveTo>
                <a:lnTo>
                  <a:pt x="3599098" y="0"/>
                </a:lnTo>
                <a:lnTo>
                  <a:pt x="3599098" y="550549"/>
                </a:lnTo>
                <a:lnTo>
                  <a:pt x="0" y="550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17" r="-427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1930" y="1294581"/>
            <a:ext cx="12483300" cy="124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Survival Condition of product 2 -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68772" y="8790055"/>
            <a:ext cx="275045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 spc="-49">
                <a:solidFill>
                  <a:srgbClr val="F3F6FA"/>
                </a:solidFill>
                <a:latin typeface="Fredoka"/>
                <a:ea typeface="Fredoka"/>
                <a:cs typeface="Fredoka"/>
                <a:sym typeface="Fredoka"/>
              </a:rPr>
              <a:t>Survival condition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6945" y="9113905"/>
            <a:ext cx="1786086" cy="347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311" u="sng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  <a:hlinkClick r:id="rId8" action="ppaction://hlinksldjump"/>
              </a:rPr>
              <a:t>Back to Slide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46324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1930" y="2853878"/>
            <a:ext cx="14988205" cy="7224362"/>
          </a:xfrm>
          <a:custGeom>
            <a:avLst/>
            <a:gdLst/>
            <a:ahLst/>
            <a:cxnLst/>
            <a:rect l="l" t="t" r="r" b="b"/>
            <a:pathLst>
              <a:path w="14988205" h="7224362">
                <a:moveTo>
                  <a:pt x="0" y="0"/>
                </a:moveTo>
                <a:lnTo>
                  <a:pt x="14988205" y="0"/>
                </a:lnTo>
                <a:lnTo>
                  <a:pt x="14988205" y="7224361"/>
                </a:lnTo>
                <a:lnTo>
                  <a:pt x="0" y="7224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1930" y="1294581"/>
            <a:ext cx="12483300" cy="124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Proof of theorem 3.3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46324" y="-1445456"/>
            <a:ext cx="8732754" cy="13016300"/>
          </a:xfrm>
          <a:custGeom>
            <a:avLst/>
            <a:gdLst/>
            <a:ahLst/>
            <a:cxnLst/>
            <a:rect l="l" t="t" r="r" b="b"/>
            <a:pathLst>
              <a:path w="8732754" h="13016300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6352" y="-5560256"/>
            <a:ext cx="8229600" cy="82296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02700" y="-4791631"/>
            <a:ext cx="4598385" cy="6853961"/>
          </a:xfrm>
          <a:custGeom>
            <a:avLst/>
            <a:gdLst/>
            <a:ahLst/>
            <a:cxnLst/>
            <a:rect l="l" t="t" r="r" b="b"/>
            <a:pathLst>
              <a:path w="4598385" h="6853961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1930" y="2806766"/>
            <a:ext cx="15844489" cy="7017200"/>
          </a:xfrm>
          <a:custGeom>
            <a:avLst/>
            <a:gdLst/>
            <a:ahLst/>
            <a:cxnLst/>
            <a:rect l="l" t="t" r="r" b="b"/>
            <a:pathLst>
              <a:path w="15844489" h="7017200">
                <a:moveTo>
                  <a:pt x="0" y="0"/>
                </a:moveTo>
                <a:lnTo>
                  <a:pt x="15844489" y="0"/>
                </a:lnTo>
                <a:lnTo>
                  <a:pt x="15844489" y="7017200"/>
                </a:lnTo>
                <a:lnTo>
                  <a:pt x="0" y="701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1930" y="1294581"/>
            <a:ext cx="12483300" cy="124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9308" b="1" spc="-186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Proof of theorem 3.3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76419" y="9084665"/>
            <a:ext cx="1786086" cy="347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311" u="sng">
                <a:solidFill>
                  <a:srgbClr val="F3F6FA"/>
                </a:solidFill>
                <a:latin typeface="Literata"/>
                <a:ea typeface="Literata"/>
                <a:cs typeface="Literata"/>
                <a:sym typeface="Literata"/>
                <a:hlinkClick r:id="rId7" action="ppaction://hlinksldjump"/>
              </a:rPr>
              <a:t>Back to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2300</Words>
  <Application>Microsoft Office PowerPoint</Application>
  <PresentationFormat>Custom</PresentationFormat>
  <Paragraphs>343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Literata</vt:lpstr>
      <vt:lpstr>TT Fors Bold</vt:lpstr>
      <vt:lpstr>Arial</vt:lpstr>
      <vt:lpstr>Literata Bold</vt:lpstr>
      <vt:lpstr>Calibri</vt:lpstr>
      <vt:lpstr>IBM Plex Serif Bold</vt:lpstr>
      <vt:lpstr>IBM Plex Serif</vt:lpstr>
      <vt:lpstr>ABeeZee Bold</vt:lpstr>
      <vt:lpstr>TT Fors</vt:lpstr>
      <vt:lpstr>Biski</vt:lpstr>
      <vt:lpstr>Fredoka</vt:lpstr>
      <vt:lpstr>Alata</vt:lpstr>
      <vt:lpstr>Bebas Neue Bold</vt:lpstr>
      <vt:lpstr>Bernoru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Keeping Up with the Winner!</dc:title>
  <cp:lastModifiedBy>Lakshay Lk</cp:lastModifiedBy>
  <cp:revision>2</cp:revision>
  <dcterms:created xsi:type="dcterms:W3CDTF">2006-08-16T00:00:00Z</dcterms:created>
  <dcterms:modified xsi:type="dcterms:W3CDTF">2025-11-14T04:54:43Z</dcterms:modified>
  <dc:identifier>DAG38j8maag</dc:identifier>
</cp:coreProperties>
</file>